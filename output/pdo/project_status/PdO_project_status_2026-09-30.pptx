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B2A3A"/>
                </a:solidFill>
                <a:latin typeface="Calibri"/>
              </a:rPr>
              <a:t>Simulated: % of planted outliers flagged vs replicates per recipe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outlier at 3 σ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30</c:v>
                </c:pt>
                <c:pt idx="2">
                  <c:v>54</c:v>
                </c:pt>
                <c:pt idx="3">
                  <c:v>52</c:v>
                </c:pt>
                <c:pt idx="4">
                  <c:v>55</c:v>
                </c:pt>
                <c:pt idx="5">
                  <c:v>58</c:v>
                </c:pt>
                <c:pt idx="6">
                  <c:v>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outlier at 5 σ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57</c:v>
                </c:pt>
                <c:pt idx="2">
                  <c:v>88</c:v>
                </c:pt>
                <c:pt idx="3">
                  <c:v>91</c:v>
                </c:pt>
                <c:pt idx="4">
                  <c:v>95</c:v>
                </c:pt>
                <c:pt idx="5">
                  <c:v>97</c:v>
                </c:pt>
                <c:pt idx="6">
                  <c:v>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outlier at 10 σ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92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A3A"/>
                </a:solidFill>
                <a:latin typeface="Calibri"/>
              </a:rPr>
              <a:t>Factor correlation per stack (lower = better, guard 0.3)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|corr|, each stack alone</c:v>
                </c:pt>
              </c:strCache>
            </c:strRef>
          </c:tx>
          <c:spPr>
            <a:solidFill>
              <a:srgbClr val="9AA5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5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5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5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Sobol</c:v>
                  </c:pt>
                  <c:pt idx="1">
                    <c:v>Plain LHS</c:v>
                  </c:pt>
                  <c:pt idx="2">
                    <c:v>Optimised LHS</c:v>
                  </c:pt>
                  <c:pt idx="3">
                    <c:v>46-pt LHS split</c:v>
                  </c:pt>
                  <c:pt idx="4">
                    <c:v>Sliced LHS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0.66</c:v>
                </c:pt>
                <c:pt idx="1">
                  <c:v>0.54</c:v>
                </c:pt>
                <c:pt idx="2">
                  <c:v>0.2</c:v>
                </c:pt>
                <c:pt idx="3">
                  <c:v>0.4</c:v>
                </c:pt>
                <c:pt idx="4">
                  <c:v>0.21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PdO thin films for oxide TFTs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status: data, crystallinity, ANOVA and the next design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DMREF · NU – ND · 30 September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737360" cy="411480"/>
          </a:xfrm>
          <a:prstGeom prst="roundRect">
            <a:avLst>
              <a:gd name="adj" fmla="val 26667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mobility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393192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3931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concentration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3931920"/>
            <a:ext cx="1920240" cy="411480"/>
          </a:xfrm>
          <a:prstGeom prst="roundRect">
            <a:avLst>
              <a:gd name="adj" fmla="val 26667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XRD crystallinity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substrate to three configurations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0515600" cy="0"/>
          </a:xfrm>
          <a:prstGeom prst="line">
            <a:avLst/>
          </a:prstGeom>
          <a:noFill/>
          <a:ln w="25400">
            <a:solidFill>
              <a:srgbClr val="C3C2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560320"/>
            <a:ext cx="457200" cy="457200"/>
          </a:xfrm>
          <a:prstGeom prst="ellipse">
            <a:avLst/>
          </a:prstGeom>
          <a:solidFill>
            <a:srgbClr val="52514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InOx screening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069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Taguchi L8 / L32 designs on InOx TFTs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560320"/>
            <a:ext cx="457200" cy="457200"/>
          </a:xfrm>
          <a:prstGeom prst="ellipse">
            <a:avLst/>
          </a:prstGeom>
          <a:solidFill>
            <a:srgbClr val="1F6F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– Aug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3291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PdO on Al₂O₃ / sapphire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4069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Sobol 23 × 3 · Hall (May) · XRD (Aug)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2560320"/>
            <a:ext cx="457200" cy="457200"/>
          </a:xfrm>
          <a:prstGeom prst="ellipse">
            <a:avLst/>
          </a:prstGeom>
          <a:solidFill>
            <a:srgbClr val="D03B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Aug 2026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291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PdO on HfO₂ / Si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069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trial conditions · high variance → dropped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149840" y="2560320"/>
            <a:ext cx="457200" cy="457200"/>
          </a:xfrm>
          <a:prstGeom prst="ellipse">
            <a:avLst/>
          </a:prstGeom>
          <a:solidFill>
            <a:srgbClr val="EB68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5256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 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52560" y="3291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8972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configurations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4069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Sapphire data + two new Si stacks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throughout: mobility ↑ · carrier concentration ↓ · crystallinity ↓ (amorphous PdO)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stage: three configurations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layer drives the film; the base substrate matters only through IR heating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1600200" cy="182880"/>
          </a:xfrm>
          <a:prstGeom prst="rect">
            <a:avLst/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42032" y="18836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2084832"/>
            <a:ext cx="1600200" cy="219456"/>
          </a:xfrm>
          <a:prstGeom prst="rect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42032" y="2084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 Al₂O₃ (10–20 nm)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304288"/>
            <a:ext cx="1600200" cy="5669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42032" y="24780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sapphire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Al₂O₃ / sapphire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 Al₂O₃ on c-plane sapphire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 conditions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4617720"/>
            <a:ext cx="1645920" cy="347472"/>
          </a:xfrm>
          <a:prstGeom prst="roundRect">
            <a:avLst>
              <a:gd name="adj" fmla="val 31579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617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+ XRD in hand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64592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901952"/>
            <a:ext cx="1600200" cy="182880"/>
          </a:xfrm>
          <a:prstGeom prst="rect">
            <a:avLst/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91072" y="18836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2084832"/>
            <a:ext cx="1600200" cy="219456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1072" y="2084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Al₂O₃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304288"/>
            <a:ext cx="1600200" cy="182880"/>
          </a:xfrm>
          <a:prstGeom prst="rect">
            <a:avLst/>
          </a:prstGeom>
          <a:solidFill>
            <a:srgbClr val="E4E7EA"/>
          </a:solidFill>
          <a:ln w="12700">
            <a:solidFill>
              <a:srgbClr val="7A8691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6291072" y="22860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SiO₂ (to confirm)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487168"/>
            <a:ext cx="1600200" cy="384048"/>
          </a:xfrm>
          <a:prstGeom prst="rect">
            <a:avLst/>
          </a:prstGeom>
          <a:solidFill>
            <a:srgbClr val="9AA5AE"/>
          </a:solidFill>
          <a:ln w="12700">
            <a:solidFill>
              <a:srgbClr val="9AA5A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91072" y="25694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wafer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Al₂O₃ / Si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Al₂O₃ touching layer, now on a Si base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new recipes × 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26280" y="4617720"/>
            <a:ext cx="1645920" cy="347472"/>
          </a:xfrm>
          <a:prstGeom prst="roundRect">
            <a:avLst>
              <a:gd name="adj" fmla="val 31579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4617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ready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164592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66760" y="1901952"/>
            <a:ext cx="1600200" cy="182880"/>
          </a:xfrm>
          <a:prstGeom prst="rect">
            <a:avLst/>
          </a:prstGeom>
          <a:solidFill>
            <a:srgbClr val="8A6D3B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40112" y="18836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66760" y="2084832"/>
            <a:ext cx="1600200" cy="219456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40112" y="2084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66760" y="2304288"/>
            <a:ext cx="1600200" cy="182880"/>
          </a:xfrm>
          <a:prstGeom prst="rect">
            <a:avLst/>
          </a:prstGeom>
          <a:solidFill>
            <a:srgbClr val="E4E7EA"/>
          </a:solidFill>
          <a:ln w="12700">
            <a:solidFill>
              <a:srgbClr val="7A8691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10040112" y="22860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SiO₂ (to confirm)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66760" y="2487168"/>
            <a:ext cx="1600200" cy="384048"/>
          </a:xfrm>
          <a:prstGeom prst="rect">
            <a:avLst/>
          </a:prstGeom>
          <a:solidFill>
            <a:srgbClr val="9AA5AE"/>
          </a:solidFill>
          <a:ln w="12700">
            <a:solidFill>
              <a:srgbClr val="9AA5A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40112" y="25694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wafer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TiO₂ / Si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827532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TiO₂ touching layer on a Si base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27532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new recipes × 3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275320" y="4617720"/>
            <a:ext cx="1645920" cy="347472"/>
          </a:xfrm>
          <a:prstGeom prst="roundRect">
            <a:avLst>
              <a:gd name="adj" fmla="val 31579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75320" y="4617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ready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HfO₂ dropped after the 15 Sep meeting; 5 HfO₂ conditions kept only as context.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and outputs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process factors + configuration in, three measured responses out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480560" cy="1783080"/>
          </a:xfrm>
          <a:prstGeom prst="roundRect">
            <a:avLst>
              <a:gd name="adj" fmla="val 410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45336"/>
            <a:ext cx="201168" cy="20116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4904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Deposition (sputter Pd)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01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801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2–40 W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0756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flow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075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0.3–20 sccm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50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350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mTorr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624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624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425 °C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898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thickness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898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nm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310128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438144"/>
            <a:ext cx="201168" cy="201168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3832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Oxidation (Pd → PdO)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6941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200–700 °C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968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3968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 / 1 atm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242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0–120 min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654296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782312"/>
            <a:ext cx="201168" cy="20116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47274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Vacuum anneal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5038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926080" y="5038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25–300 °C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5312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2926080" y="5312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0–120 min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724144"/>
            <a:ext cx="44805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B2A3A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713232" y="572414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 </a:t>
            </a:r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layer / substrate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212080" y="3520440"/>
            <a:ext cx="731520" cy="457200"/>
          </a:xfrm>
          <a:prstGeom prst="rightArrow">
            <a:avLst/>
          </a:prstGeom>
          <a:solidFill>
            <a:srgbClr val="C3C2B7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278892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80760" y="2788920"/>
            <a:ext cx="182880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PdO film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replicates per recipe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46720" y="3520440"/>
            <a:ext cx="731520" cy="457200"/>
          </a:xfrm>
          <a:prstGeom prst="rightArrow">
            <a:avLst/>
          </a:prstGeom>
          <a:solidFill>
            <a:srgbClr val="C3C2B7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160020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11338560" y="16916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000" dirty="0"/>
          </a:p>
        </p:txBody>
      </p:sp>
      <p:sp>
        <p:nvSpPr>
          <p:cNvPr id="41" name="Text 39"/>
          <p:cNvSpPr txBox="1"/>
          <p:nvPr/>
        </p:nvSpPr>
        <p:spPr>
          <a:xfrm>
            <a:off x="9098280" y="174650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 mobility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125712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cm²/V·s · Hall effect, per film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961120" y="30175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11338560" y="3108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000" dirty="0"/>
          </a:p>
        </p:txBody>
      </p:sp>
      <p:sp>
        <p:nvSpPr>
          <p:cNvPr id="45" name="Text 43"/>
          <p:cNvSpPr txBox="1"/>
          <p:nvPr/>
        </p:nvSpPr>
        <p:spPr>
          <a:xfrm>
            <a:off x="9098280" y="31638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 concentration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125712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cm⁻³ · Hall effect, modelled on log₁₀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961120" y="443484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11338560" y="4526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0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45811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Crystallinity index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125712" y="5074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· PdO(101) XRD area; amorphous wanted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080760" y="5989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failures are recorded too: they train the feasibility model.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Received data: Al₂O₃ / sapphire Sobol batch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fabricated as designed; every recipe annealed &gt; 513 °C or oxidised &gt; 695 °C failed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58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 fabricated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157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741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Hall 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3133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897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XRD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94690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23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05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conditions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463040"/>
            <a:ext cx="5852160" cy="459943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058400" y="2194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recipes contact-failed on all 3 films; #14 lost 1 of 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0" y="36576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XRD scanned on the 14 surviving recipes (42 films)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Sapphire design: input correlations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between the 10 factors · as designed (23 recipes) and as measured (14 that survived Hall)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17320"/>
            <a:ext cx="7772400" cy="3849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21040" y="1554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|r| as designed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of a 23-point Sobol (0.48); optimised LHS gives 0.21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154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|r| as measured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flow × anneal temperature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8006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48463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 batch (sliced optimised LHS): max |r| 0.24 and 0.21 per stack, 0.11 combined.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3492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failures removed most hot-anneal recipes, so in the data O₂ flow and anneal temperature move together; the ANOVA cannot separate their effects.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XRD: how crystallinity is quantified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PdO(101) at 33.8° is the 100 % line of PDF 00-041-1107 and the only film peak on sapphire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7680960" cy="2761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55448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Crystallinity index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148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6F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= 100 · A</a:t>
            </a:r>
            <a:pPr indent="0" marL="0">
              <a:buNone/>
            </a:pPr>
            <a:r>
              <a:rPr lang="en-US" sz="2200" baseline="-40000" dirty="0">
                <a:solidFill>
                  <a:srgbClr val="1F6F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101</a:t>
            </a:r>
            <a:pPr indent="0" marL="0">
              <a:buNone/>
            </a:pPr>
            <a:r>
              <a:rPr lang="en-US" sz="2200" dirty="0">
                <a:solidFill>
                  <a:srgbClr val="1F6F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/ A</a:t>
            </a:r>
            <a:pPr indent="0" marL="0">
              <a:buNone/>
            </a:pPr>
            <a:r>
              <a:rPr lang="en-US" sz="2200" baseline="-40000" dirty="0">
                <a:solidFill>
                  <a:srgbClr val="1F6F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ref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net area 33–35° above a linear baseline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mean of the 3 strongest films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detected if Gaussian SNR ≥ 3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262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Crystalline / (crystalline + amorphous) is not measurable here: the film is &lt; 2 % of the counts and the "halo" left after subtracting sapphire is a scan artefact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is relative: films without a resolved peak read 10–25 %, i.e. below detection, not a measured fraction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XRD results per condition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of 42 films show a resolved PdO(101) peak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7863840" cy="31455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03920" y="1554480"/>
            <a:ext cx="3291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is the main driver: every 25 °C film ≤ 12 nm and 425 °C film ≤ 4 nm stays near the floor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425 °C films ≥ 13 nm reach 56–92 %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fab team’s slide claims film by film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Replicates agree to a few %, except #14 (32 – 109 %)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463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thickness = deposited Pd × 5/3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XRD per condition: best recipe as reference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A_ref = mean PdO(101) area of the 3 films of #9 (425 °C, 16 nm), the highest recipe mean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7863840" cy="31455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03920" y="1554480"/>
            <a:ext cx="3291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= 100 % by definition; single films can read above it (03_14: 119 %)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425 °C films ≥ 13 nm: recipe means 61–100 %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is the top-3 version × 1.09: ranking, ANOVA F and p, CV and outlier flags do not change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02_14 outlier, #14 would set the reference instead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754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6F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= 100 · A</a:t>
            </a:r>
            <a:pPr indent="0" marL="0">
              <a:buNone/>
            </a:pPr>
            <a:r>
              <a:rPr lang="en-US" sz="1800" baseline="-40000" dirty="0">
                <a:solidFill>
                  <a:srgbClr val="1F6F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101</a:t>
            </a:r>
            <a:pPr indent="0" marL="0">
              <a:buNone/>
            </a:pPr>
            <a:r>
              <a:rPr lang="en-US" sz="1800" dirty="0">
                <a:solidFill>
                  <a:srgbClr val="1F6F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/ Ā</a:t>
            </a:r>
            <a:pPr indent="0" marL="0">
              <a:buNone/>
            </a:pPr>
            <a:r>
              <a:rPr lang="en-US" sz="1800" baseline="-40000" dirty="0">
                <a:solidFill>
                  <a:srgbClr val="1F6F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101</a:t>
            </a:r>
            <a:pPr indent="0" marL="0">
              <a:buNone/>
            </a:pPr>
            <a:r>
              <a:rPr lang="en-US" sz="1800" dirty="0">
                <a:solidFill>
                  <a:srgbClr val="1F6F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(#9)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03520"/>
          <a:ext cx="75895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960120"/>
                <a:gridCol w="960120"/>
                <a:gridCol w="960120"/>
                <a:gridCol w="960120"/>
                <a:gridCol w="16002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A_ref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film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strongest films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6F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recipe (#9)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6F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6F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6F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6F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6F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outlier check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recipe keeps its own mean; the IQR is one per response, from all recipes’ deviations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72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mean per recipe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 replicate films of each recipe: ȳᵢ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70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 each recipe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449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dᵢⱼ = yᵢⱼ − ȳᵢ: subtract the recipe’s own mean (centring, not standardising); every recipe sits at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67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IQR per response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422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Q1, Q3 from the deviations of all recipes together (41–42 films)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864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2395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whose deviation lies outside Q1 − 1.5·IQR … Q3 + 1.5·IQR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1554480"/>
            <a:ext cx="5120640" cy="4343400"/>
          </a:xfrm>
          <a:prstGeom prst="roundRect">
            <a:avLst>
              <a:gd name="adj" fmla="val 2105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recipe #14, crystallinity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2148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mean ȳ = 75.2 %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2560320"/>
          <a:ext cx="46634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13716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Deviation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02_14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−43.1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03_14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108.9 %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6812280" y="41605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42 crystallinity deviations: Q1 = −2.8, Q3 = +3.2, IQR = 6.0 → fences −11.8 … +12.2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812280" y="4892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recipes repeat within a few %, so ±12 % is the normal spread; #14’s films sit far outside it.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035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an IQR of each recipe’s own 3 films?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an IQR per recipe?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 films, the quartiles come from those same films: a stray film widens its own fence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25880"/>
            <a:ext cx="10058400" cy="315468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457200" y="4526280"/>
          <a:ext cx="60350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858000" y="46177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 crystallinity: 32, 85, 109 %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IQR 38 → fences 1 … 154 %: nothing flagged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858000" y="5394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replicates: 0 % of outliers caught, even at 10 σ. A per-recipe test needs ≥ 5 replicates; with 3, the scale has to come from all recipes.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check: results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of each film from its own recipe mean · one set of IQR fences per response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10149840" cy="3191256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7223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11480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by IQR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(Cook's 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01_14, 03_14 mobility · 02_14, 03_14 crystallinity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02_14 crystallinity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01_08, 03_08 carrier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03_08 carrier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01_23, 03_23 carrier · 01_23 crystallinity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01_23 carrier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09244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films in 3 recipes flagged.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8092440" y="51206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whose films disagree usually puts two films outside. Cook’s distance removes at most one film per recipe; its 3 removals are all IQR-flagged.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data at a glance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level, 41 films with Hall + XRD, coloured by deposition temperature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230368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691640"/>
            <a:ext cx="457200" cy="45720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Thickness → crystallinity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2029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steadily with final thickness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2834640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carrier clusters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3172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10¹⁹·⁵ and ≈ 10²⁰·³ cm⁻³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3977640"/>
            <a:ext cx="457200" cy="45720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Crystalline films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315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 in the low-carrier cluster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17920" y="5120640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074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5458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trend with crystallinity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Crystallinity against the Hall responses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Condition-level Spearman correlation, 14 conditions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772400" cy="29535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645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−0.70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crystallinity vs log carrier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3108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+0.52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crystallinity vs mobility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Amorphous films are the high-carrier films: the two objectives pull against each other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exist: #15 is low-crystallinity with 8.8 cm²/V·s; #23 is 55 % with ~1 cm²/V·s → joint optimisation, not a rule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 noise per condition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coefficient of variation CV = 100·s / mean over replicates, outliers removed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51560"/>
                <a:gridCol w="868680"/>
                <a:gridCol w="1463040"/>
                <a:gridCol w="868680"/>
                <a:gridCol w="1554480"/>
                <a:gridCol w="868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(cm⁻³)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Crystallinity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1.64·10²⁰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1.90·10²⁰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5.17·10¹⁹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5.77·10¹⁹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1.33·10²⁰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5.04·10¹⁹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2.90·10²⁰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1.64·10¹⁹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3.20·10¹⁹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2.16·10²⁰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2.61·10¹⁹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4.89·10¹⁹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1.35·10²⁰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3.60·10¹⁹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595360" y="1463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2029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CV, mobility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7.2 %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081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CV, carrier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566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15.8 %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4133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CV, crystallinity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95360" y="470916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32520" y="47548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removed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Cook's distance &gt; 4/n, max one per condition: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02_14 crystallinity · 03_08, 01_23 carrier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80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 has only 2 Hall films (02_14 contact-failed); orange = CV &gt; 20 %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ANOVA: how variance is split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model, each response analysed separately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01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indent="0" marL="0">
              <a:buNone/>
            </a:pPr>
            <a:r>
              <a:rPr lang="en-US" sz="2000" baseline="-40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ij</a:t>
            </a:r>
            <a:pPr indent="0" marL="0">
              <a:buNone/>
            </a:pPr>
            <a:r>
              <a:rPr lang="en-US" sz="2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μ + τ</a:t>
            </a:r>
            <a:pPr indent="0" marL="0">
              <a:buNone/>
            </a:pPr>
            <a:r>
              <a:rPr lang="en-US" sz="2000" baseline="-40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indent="0" marL="0">
              <a:buNone/>
            </a:pPr>
            <a:r>
              <a:rPr lang="en-US" sz="2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+ ε</a:t>
            </a:r>
            <a:pPr indent="0" marL="0">
              <a:buNone/>
            </a:pPr>
            <a:r>
              <a:rPr lang="en-US" sz="2000" baseline="-40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ij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691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τᵢ: effect of group i · ε: replicate noise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99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SS</a:t>
            </a:r>
            <a:pPr indent="0" marL="0">
              <a:buNone/>
            </a:pPr>
            <a:r>
              <a:rPr lang="en-US" sz="2000" baseline="-40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indent="0" marL="0">
              <a:buNone/>
            </a:pPr>
            <a:r>
              <a:rPr lang="en-US" sz="2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SS</a:t>
            </a:r>
            <a:pPr indent="0" marL="0">
              <a:buNone/>
            </a:pPr>
            <a:r>
              <a:rPr lang="en-US" sz="2000" baseline="-40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pPr indent="0" marL="0">
              <a:buNone/>
            </a:pPr>
            <a:r>
              <a:rPr lang="en-US" sz="2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+ SS</a:t>
            </a:r>
            <a:pPr indent="0" marL="0">
              <a:buNone/>
            </a:pPr>
            <a:r>
              <a:rPr lang="en-US" sz="2000" baseline="-40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788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between groups + within groups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22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statistic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96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= [SS</a:t>
            </a:r>
            <a:pPr indent="0" marL="0">
              <a:buNone/>
            </a:pPr>
            <a:r>
              <a:rPr lang="en-US" sz="2000" baseline="-40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pPr indent="0" marL="0">
              <a:buNone/>
            </a:pPr>
            <a:r>
              <a:rPr lang="en-US" sz="2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/ (k − 1)] / [SS</a:t>
            </a:r>
            <a:pPr indent="0" marL="0">
              <a:buNone/>
            </a:pPr>
            <a:r>
              <a:rPr lang="en-US" sz="2000" baseline="-40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pPr indent="0" marL="0">
              <a:buNone/>
            </a:pPr>
            <a:r>
              <a:rPr lang="en-US" sz="2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/ (N − k)]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groups, N films · large F → means differ beyond noise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919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193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P( F</a:t>
            </a:r>
            <a:pPr indent="0" marL="0">
              <a:buNone/>
            </a:pPr>
            <a:r>
              <a:rPr lang="en-US" sz="2000" baseline="-40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k−1, N−k</a:t>
            </a:r>
            <a:pPr indent="0" marL="0">
              <a:buNone/>
            </a:pPr>
            <a:r>
              <a:rPr lang="en-US" sz="2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≥ F</a:t>
            </a:r>
            <a:pPr indent="0" marL="0">
              <a:buNone/>
            </a:pPr>
            <a:r>
              <a:rPr lang="en-US" sz="2000" baseline="-40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obs</a:t>
            </a:r>
            <a:pPr indent="0" marL="0">
              <a:buNone/>
            </a:pPr>
            <a:r>
              <a:rPr lang="en-US" sz="2000" dirty="0">
                <a:solidFill>
                  <a:srgbClr val="1B2A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)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983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an F this large if the groups had no effect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conditions (14 recipes)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2011680"/>
          <a:ext cx="38404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77724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(all)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F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6.1·10⁻¹⁸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log₁₀ carrier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F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2.0·10⁻²⁵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Crystallinity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F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2.0·10⁻¹⁵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7863840" y="3657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and p with outliers removed; F (all) = every replicate. df = 13 and 25–27.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863840" y="4343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 explains every response far beyond replicate noise.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Per-factor test: two groups per factor (its two levels, or split at the median); carrier on log₁₀ scale.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ANOVA per factor: F and 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test per factor (two levels, or split at the median), outliers removed · orange = p &lt; 0.05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log₁₀ carrier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Crystallinity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2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2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2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2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2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2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25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 Press (atm)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1.7·10⁻¹⁰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 Thickness (nm)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5.5·10⁻⁶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 Press (mTorr)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5.2·10⁻⁴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6.8·10⁻⁵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 Temp (°C)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4.6·10⁻⁴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 Temp (°C)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 Power (W)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 Ann Time (min)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 Flow (sccm)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 Ann Temp (°C)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 Time (min)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drivers: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 pressure → mobility · deposition pressure → carrier · thickness → crystallinity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only: replicates are not independent and 14 recipes leave some factors confounded (e.g. deposition pressure with thickness).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three-output GP on the current data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condition means, SEM² noise, leave-one-out: refit on 13, predict the 14th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33009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892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2514600" y="5029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R², Hall mobility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4892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−0.31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5029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R², log₁₀ carrier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4892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0.33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0012680" y="5029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R², Crystallinity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partly predictable; carrier not yet (worse than the mean); error bars somewhat over-confident. 14 recipes in 10-D is data-starved.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say about new samples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= higher mobility, lower carrier, lower crystallinity · GP trained on sapphire data only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9537192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6811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Utopia (preliminary target): </a:t>
            </a:r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cm²/V·s, 10¹⁹ cm⁻³, 0 % · best measured so far: 8.8 cm²/V·s (#15), 1.6·10¹⁹ cm⁻³ (#14), 11 % (#5)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9729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proposals: </a:t>
            </a:r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 25 °C deposition and 0.02 atm, 700 °C oxidation · predicted 8.4–9.2 cm²/V·s, 2–4·10¹⁹ cm⁻³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#15 recipe family pushed to the box edge, where the model extrapolates and Si may fail: what sapphire favours, to be tested by batch 1.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the two new Si stacks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Sliced Latin hypercube: 46 distinct recipes, no recipe repeated across stacks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394960" cy="4626864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6309360" y="146304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309360" y="46177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of 46 is a 46-point LHS; each stack’s 23 is a 23-point LHS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Best-or-equal on union coverage, per-stack quality and stack balance (0.04)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Sobol only catches up after ~100 recipes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space for the new batch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10 factors as the sapphire batch; ranges to confirm with ND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914400"/>
                <a:gridCol w="914400"/>
                <a:gridCol w="1463040"/>
                <a:gridCol w="3931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vs sapphire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 Power (W)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W is not a deposition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O₂ Flow (sccm)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 Press (mTorr)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 Temp (°C)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/ 425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 Temp (°C)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sapphire film at 695 °C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 Press (atm)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 /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 Time (min)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 Ann Temp (°C)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failures ≥ 325 °C on 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 Ann Time (min)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 Thickness (nm)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719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ranges with ND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 pressure levels, 700 °C ceiling on Si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640080" cy="64008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1719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Fabricate 2 × 23 × 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194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Al₂O₃/Si and TiO₂/Si, IDs AlSi-NN-rR / TiSi-NN-rR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640080" cy="64008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7307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transfer from sapphire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206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Al₂O₃/sapphire predict Al₂O₃/Si?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749040"/>
            <a:ext cx="640080" cy="6400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37307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Three-objective BO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4206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↑ · carrier ↓ · crystallinity ↓, stack as input, SEM² noise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PdO thin films - project status</dc:title>
  <dc:subject>PptxGenJS Presentation</dc:subject>
  <dc:creator>PptxGenJS</dc:creator>
  <cp:lastModifiedBy>PptxGenJS</cp:lastModifiedBy>
  <cp:revision>1</cp:revision>
  <dcterms:created xsi:type="dcterms:W3CDTF">2026-10-01T18:50:26Z</dcterms:created>
  <dcterms:modified xsi:type="dcterms:W3CDTF">2026-10-01T18:50:26Z</dcterms:modified>
</cp:coreProperties>
</file>