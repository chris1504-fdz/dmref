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CC1FF"/>
                </a:solidFill>
              </a:defRPr>
            </a:pPr>
            <a:r>
              <a:t>§8  MULTI-OBJECTIVE BAYESIAN OPTIMIZATION  /  MODEL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Surrogate model: multi-output Gaussian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9436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  <a:defRPr sz="1400" b="0">
                <a:solidFill>
                  <a:srgbClr val="11243A"/>
                </a:solidFill>
              </a:defRPr>
            </a:pPr>
            <a:r>
              <a:t>•  Why a GP?  Linear models (§5) were not predictive at n=14; a GP is built for small, noisy, high-dimensional data and returns calibrated uncertainty.</a:t>
            </a:r>
          </a:p>
          <a:p>
            <a:pPr>
              <a:lnSpc>
                <a:spcPct val="100000"/>
              </a:lnSpc>
              <a:spcAft>
                <a:spcPts val="900"/>
              </a:spcAft>
              <a:defRPr sz="1400" b="0">
                <a:solidFill>
                  <a:srgbClr val="11243A"/>
                </a:solidFill>
              </a:defRPr>
            </a:pPr>
            <a:r>
              <a:t>•  Training data: 14 valid condition means — replicates averaged, contact-fail runs excluded (failures are not modeled).</a:t>
            </a:r>
          </a:p>
          <a:p>
            <a:pPr>
              <a:lnSpc>
                <a:spcPct val="100000"/>
              </a:lnSpc>
              <a:spcAft>
                <a:spcPts val="900"/>
              </a:spcAft>
              <a:defRPr sz="1400" b="1">
                <a:solidFill>
                  <a:srgbClr val="11243A"/>
                </a:solidFill>
              </a:defRPr>
            </a:pPr>
            <a:r>
              <a:t>•  10 process factors encoded to the unit cube [0,1]¹⁰:</a:t>
            </a:r>
          </a:p>
          <a:p>
            <a:pPr lvl="1">
              <a:lnSpc>
                <a:spcPct val="100000"/>
              </a:lnSpc>
              <a:spcAft>
                <a:spcPts val="900"/>
              </a:spcAft>
              <a:defRPr sz="1200" b="0">
                <a:solidFill>
                  <a:srgbClr val="555555"/>
                </a:solidFill>
              </a:defRPr>
            </a:pPr>
            <a:r>
              <a:t>–  8 continuous factors: min–max scaled to their bounds</a:t>
            </a:r>
          </a:p>
          <a:p>
            <a:pPr lvl="1">
              <a:lnSpc>
                <a:spcPct val="100000"/>
              </a:lnSpc>
              <a:spcAft>
                <a:spcPts val="900"/>
              </a:spcAft>
              <a:defRPr sz="1200" b="0">
                <a:solidFill>
                  <a:srgbClr val="555555"/>
                </a:solidFill>
              </a:defRPr>
            </a:pPr>
            <a:r>
              <a:t>–  2 binary factors (Dep Temp, Ox Press): mapped to {0, 1}</a:t>
            </a:r>
          </a:p>
          <a:p>
            <a:pPr>
              <a:lnSpc>
                <a:spcPct val="100000"/>
              </a:lnSpc>
              <a:spcAft>
                <a:spcPts val="900"/>
              </a:spcAft>
              <a:defRPr sz="1400" b="1">
                <a:solidFill>
                  <a:srgbClr val="11243A"/>
                </a:solidFill>
              </a:defRPr>
            </a:pPr>
            <a:r>
              <a:t>•  Model: botorch SingleTaskGP — 2 correlated outputs, Matérn-5/2 ARD kernel, inputs normalized, outcomes standardized; fit by exact marginal log-likelihood.</a:t>
            </a:r>
          </a:p>
          <a:p>
            <a:pPr>
              <a:lnSpc>
                <a:spcPct val="100000"/>
              </a:lnSpc>
              <a:spcAft>
                <a:spcPts val="900"/>
              </a:spcAft>
              <a:defRPr sz="1400" b="1">
                <a:solidFill>
                  <a:srgbClr val="1F77B4"/>
                </a:solidFill>
              </a:defRPr>
            </a:pPr>
            <a:r>
              <a:t>•  Objectives (botorch maximizes): y₁ = mobility ↑ ; y₂ = −log₁₀(carrier) ↑ ≡ minimize carrier. Carrier in log₁₀ (spans &gt; 1 decade).</a:t>
            </a:r>
          </a:p>
          <a:p>
            <a:pPr>
              <a:lnSpc>
                <a:spcPct val="100000"/>
              </a:lnSpc>
              <a:spcAft>
                <a:spcPts val="900"/>
              </a:spcAft>
              <a:defRPr sz="1400" b="0">
                <a:solidFill>
                  <a:srgbClr val="2CA02C"/>
                </a:solidFill>
              </a:defRPr>
            </a:pPr>
            <a:r>
              <a:t>•  Output: posterior mean + uncertainty at any untried recipe → drives the acquisition search (next slide).</a:t>
            </a:r>
          </a:p>
        </p:txBody>
      </p:sp>
      <p:pic>
        <p:nvPicPr>
          <p:cNvPr id="5" name="Picture 4" descr="gp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58356"/>
            <a:ext cx="5212080" cy="43642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CC1FF"/>
                </a:solidFill>
              </a:defRPr>
            </a:pPr>
            <a:r>
              <a:t>§8  ACQUISITION FUNCTION  /  WHAT WE OPTIMIZE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Acquisition: qLogNEHVI (batch multi-objective)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48640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400" b="1">
                <a:solidFill>
                  <a:srgbClr val="11243A"/>
                </a:solidFill>
              </a:defRPr>
            </a:pPr>
            <a:r>
              <a:t>•  Hypervolume = the scalar quality of the Pareto front: the area/volume it dominates above a reference point. Observed HV = 11.89.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400" b="0">
                <a:solidFill>
                  <a:srgbClr val="11243A"/>
                </a:solidFill>
              </a:defRPr>
            </a:pPr>
            <a:r>
              <a:t>•  qLogNoisyExpectedHypervolumeImprovement scores a recipe by its expected increase in that hypervolume.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 sz="1200" b="0">
                <a:solidFill>
                  <a:srgbClr val="555555"/>
                </a:solidFill>
              </a:defRPr>
            </a:pPr>
            <a:r>
              <a:t>–  Noisy: integrates over GP posterior → robust to observation noise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 sz="1200" b="0">
                <a:solidFill>
                  <a:srgbClr val="555555"/>
                </a:solidFill>
              </a:defRPr>
            </a:pPr>
            <a:r>
              <a:t>–  Log: log-space evaluation → numerically stable optimization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 sz="1200" b="0">
                <a:solidFill>
                  <a:srgbClr val="555555"/>
                </a:solidFill>
              </a:defRPr>
            </a:pPr>
            <a:r>
              <a:t>–  q = 3: optimizes a joint batch of 3 (diversity built in); joint score −7.84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400" b="1">
                <a:solidFill>
                  <a:srgbClr val="11243A"/>
                </a:solidFill>
              </a:defRPr>
            </a:pPr>
            <a:r>
              <a:t>•  Mixed optimization (optimize_acqf_mixed):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 sz="1200" b="0">
                <a:solidFill>
                  <a:srgbClr val="555555"/>
                </a:solidFill>
              </a:defRPr>
            </a:pPr>
            <a:r>
              <a:t>–  enumerate the 4 binary combos (Dep Temp × Ox Press) as fixed features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 sz="1200" b="0">
                <a:solidFill>
                  <a:srgbClr val="555555"/>
                </a:solidFill>
              </a:defRPr>
            </a:pPr>
            <a:r>
              <a:t>–  optimize the 8 continuous knobs on [0,1] — 20 restarts, 256 QMC samples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400" b="1">
                <a:solidFill>
                  <a:srgbClr val="D62728"/>
                </a:solidFill>
              </a:defRPr>
            </a:pPr>
            <a:r>
              <a:t>•  Failure-aware search bounds: Vac Ann ≤ 550 °C (baked into encoding); Ox Temp ≤ 680 °C for proposals only — GP still trained on the full range.</a:t>
            </a:r>
          </a:p>
        </p:txBody>
      </p:sp>
      <p:pic>
        <p:nvPicPr>
          <p:cNvPr id="5" name="Picture 4" descr="botorch_pareto_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467976"/>
            <a:ext cx="5852160" cy="2333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5989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555555"/>
                </a:solidFill>
              </a:defRPr>
            </a:pPr>
            <a:r>
              <a:t>Objective plane: observed Pareto front + 3 proposals (GP mean ±1σ); right bar = per-candidate qLogNEHVI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CC1FF"/>
                </a:solidFill>
              </a:defRPr>
            </a:pPr>
            <a:r>
              <a:t>§8  RESULT  /  WHERE TO SAMPLE NEXT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Output: 3 proposed next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120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  <a:defRPr sz="1400" b="0">
                <a:solidFill>
                  <a:srgbClr val="11243A"/>
                </a:solidFill>
              </a:defRPr>
            </a:pPr>
            <a:r>
              <a:t>•  No single winner — the optimizer returns a Pareto set. The 3 candidates are the points qLogNEHVI expects to expand the front the most.</a:t>
            </a:r>
          </a:p>
          <a:p>
            <a:pPr>
              <a:lnSpc>
                <a:spcPct val="100000"/>
              </a:lnSpc>
              <a:spcAft>
                <a:spcPts val="900"/>
              </a:spcAft>
              <a:defRPr sz="1400" b="1">
                <a:solidFill>
                  <a:srgbClr val="2CA02C"/>
                </a:solidFill>
              </a:defRPr>
            </a:pPr>
            <a:r>
              <a:t>•  Optimum corner = top-left: high mobility, low carrier (gold ideal point).</a:t>
            </a:r>
          </a:p>
          <a:p>
            <a:pPr>
              <a:lnSpc>
                <a:spcPct val="100000"/>
              </a:lnSpc>
              <a:spcAft>
                <a:spcPts val="900"/>
              </a:spcAft>
              <a:defRPr sz="1400" b="0">
                <a:solidFill>
                  <a:srgbClr val="11243A"/>
                </a:solidFill>
              </a:defRPr>
            </a:pPr>
            <a:r>
              <a:t>•  Ranked by individual qLogNEHVI → C1 is the most promising single recipe.</a:t>
            </a:r>
          </a:p>
          <a:p>
            <a:pPr>
              <a:lnSpc>
                <a:spcPct val="100000"/>
              </a:lnSpc>
              <a:spcAft>
                <a:spcPts val="900"/>
              </a:spcAft>
              <a:defRPr sz="1400" b="0">
                <a:solidFill>
                  <a:srgbClr val="555555"/>
                </a:solidFill>
              </a:defRPr>
            </a:pPr>
            <a:r>
              <a:t>•  Predictions carry ±1σ uncertainty; proposals push beyond the current front toward the ideal point.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84048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554480"/>
                <a:gridCol w="155448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Cand.</a:t>
                      </a:r>
                    </a:p>
                  </a:txBody>
                  <a:tcPr anchor="ctr"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Pred. mobility</a:t>
                      </a:r>
                    </a:p>
                    <a:p>
                      <a:r>
                        <a:t>(cm²/V·s)</a:t>
                      </a:r>
                    </a:p>
                  </a:txBody>
                  <a:tcPr anchor="ctr"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Pred. carrier</a:t>
                      </a:r>
                    </a:p>
                    <a:p>
                      <a:r>
                        <a:t>(#/cm³)</a:t>
                      </a:r>
                    </a:p>
                  </a:txBody>
                  <a:tcPr anchor="ctr"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qLogNEHVI</a:t>
                      </a:r>
                    </a:p>
                    <a:p>
                      <a:r>
                        <a:t>(rank)</a:t>
                      </a:r>
                    </a:p>
                  </a:txBody>
                  <a:tcPr anchor="ctr">
                    <a:solidFill>
                      <a:srgbClr val="1124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627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243A"/>
                          </a:solidFill>
                        </a:defRPr>
                      </a:pPr>
                      <a:r>
                        <a:t>9.02 ± 1.32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243A"/>
                          </a:solidFill>
                        </a:defRPr>
                      </a:pPr>
                      <a:r>
                        <a:t>1.84e19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243A"/>
                          </a:solidFill>
                        </a:defRPr>
                      </a:pPr>
                      <a:r>
                        <a:t>−9.19  (1)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6272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243A"/>
                          </a:solidFill>
                        </a:defRPr>
                      </a:pPr>
                      <a:r>
                        <a:t>9.70 ± 1.01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243A"/>
                          </a:solidFill>
                        </a:defRPr>
                      </a:pPr>
                      <a:r>
                        <a:t>1.45e19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243A"/>
                          </a:solidFill>
                        </a:defRPr>
                      </a:pPr>
                      <a:r>
                        <a:t>−10.55  (2)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62728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243A"/>
                          </a:solidFill>
                        </a:defRPr>
                      </a:pPr>
                      <a:r>
                        <a:t>9.18 ± 1.36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243A"/>
                          </a:solidFill>
                        </a:defRPr>
                      </a:pPr>
                      <a:r>
                        <a:t>1.60e19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243A"/>
                          </a:solidFill>
                        </a:defRPr>
                      </a:pPr>
                      <a:r>
                        <a:t>−12.94  (3)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botorch_pareto_candidates_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41486"/>
            <a:ext cx="6035040" cy="45693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62179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555555"/>
                </a:solidFill>
              </a:defRPr>
            </a:pPr>
            <a:r>
              <a:t>Pareto frontier (linear carrier axis): optimum = top-left; gold ★ = ideal point; shaded = improvement region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