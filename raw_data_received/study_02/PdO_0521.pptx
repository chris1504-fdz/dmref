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11" r:id="rId2"/>
    <p:sldId id="3310" r:id="rId3"/>
    <p:sldId id="3312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2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8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23AD5D-4BCA-EB89-18E5-569E63F69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9385AFD-A858-62E9-553D-BEABDBF55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CE00E7-7A40-80A9-D7A8-E50B6AB9D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48FE-9F19-4BEE-BFF6-43EA06BF3895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C575C4-63BE-9707-717D-D93A633CB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7A7CFC-3BD4-F264-A139-BF68E837A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F8CA-6E7F-4E2C-9E32-A49A9F246E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392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487C45-8617-1A2C-EED5-50FE8913A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FA6BC6-C2EB-560D-3296-FBE34DBE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8CE8B4-AB63-761C-D473-D993254EB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48FE-9F19-4BEE-BFF6-43EA06BF3895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5DAB16-E0C6-777A-644E-45845AA4E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C97C55-DE5B-446C-4B27-8A245EFD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F8CA-6E7F-4E2C-9E32-A49A9F246E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8357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37B51A-E636-775B-F068-17EE30CDD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26F497-8B67-D900-A18D-E526FFBC4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5E4CAD-CCE9-6A2F-436E-17CEF1586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48FE-9F19-4BEE-BFF6-43EA06BF3895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0B0E24-6C96-FFD8-65B6-55E709D67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B78539-F2D7-759A-8475-93C349F06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F8CA-6E7F-4E2C-9E32-A49A9F246E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66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C58B14-D7A7-D030-6E07-E51BDA0DA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0B436E-9449-0DD3-B41E-DE7C9A0B80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666ADE6-5BA4-1BA3-9200-552215664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FEEBDC6-85D8-E32C-D4EB-27A36437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48FE-9F19-4BEE-BFF6-43EA06BF3895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C2CF089-EF63-DB97-4438-0C59896EA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530ADB2-D7FE-6501-BD6D-5DF5D505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F8CA-6E7F-4E2C-9E32-A49A9F246E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2128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320628-289C-BCE8-AD5A-5350B3A0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3B5FC4-45B6-3CA0-FB22-89BD8D9D3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EB49611-13EA-C421-AAF2-2FA853D53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C190E31-0F01-3BAA-3F62-AB072CC7D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904D32E-54FA-0CED-ECF0-D9D1D00791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29B277E-4105-EE41-5D7B-782718DB3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48FE-9F19-4BEE-BFF6-43EA06BF3895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1F34355-C5EE-2DD1-A5BE-AFA16FAC1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6919EFA-191C-E098-5C5C-127E742C4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F8CA-6E7F-4E2C-9E32-A49A9F246E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7090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276E80-8D45-7ABF-F647-B07991CCB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0E8DF04-ED6C-C151-C483-E71E34DC0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48FE-9F19-4BEE-BFF6-43EA06BF3895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FE6C4BF-503D-1106-FDE2-CD29B0DE6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376FD6-2CD6-80D9-1780-C9BA5FA52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F8CA-6E7F-4E2C-9E32-A49A9F246E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1642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73D2C21-C982-B6F0-4376-741D6E69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48FE-9F19-4BEE-BFF6-43EA06BF3895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D20D208-7FF5-8AA3-5801-5529F7DAA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CD84A1-0456-5435-5702-E245A381B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F8CA-6E7F-4E2C-9E32-A49A9F246E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740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9AC3B0-3304-DDAE-441D-AB1E5B38A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9E6EE7-8488-289E-06F7-72119AD7A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347A36D-9824-A0A9-9AEA-5E0111061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DD51213-59D7-6312-87CD-B15635D73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48FE-9F19-4BEE-BFF6-43EA06BF3895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44EFB34-7B76-76D0-D8A8-82E78A33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DA5912A-50EB-E094-7CA7-41551AFBB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F8CA-6E7F-4E2C-9E32-A49A9F246E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9893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BE5F7-0FF5-B418-0F15-F3BBEABDA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0D055B5-8135-0BAF-122B-7BC68C9D4E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89B0278-8EB0-B7B5-966E-82AAF7924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8B63EEB-FAC0-35D8-F2E0-16CB22EA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48FE-9F19-4BEE-BFF6-43EA06BF3895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DFE8A4-1279-18F3-4B85-5770BAF04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47B42BC-3EB4-A684-0A02-C0D48EAF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F8CA-6E7F-4E2C-9E32-A49A9F246E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9734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51C07E-5F64-18B7-0D74-6678FC3F3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2F19E61-1B2E-13AC-7D76-683BD6469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7ED26B-B647-1382-197E-BF5682FAA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48FE-9F19-4BEE-BFF6-43EA06BF3895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81F289-9BCB-A5D6-D482-A5C93409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65C474-96FE-8E5F-4ACF-C43E57592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F8CA-6E7F-4E2C-9E32-A49A9F246E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348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3AEACE3-8CD6-4E2A-4CA5-55B9C6D95F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9707485-2B35-61ED-0445-085008EBF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2B403B-6F29-4C2C-E1E2-3E5F4E737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48FE-9F19-4BEE-BFF6-43EA06BF3895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B9BA67-17CA-928A-95A8-255035B69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480481-46A9-3BC4-5B38-F0D6DDE47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5F8CA-6E7F-4E2C-9E32-A49A9F246E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4985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;p3">
            <a:extLst>
              <a:ext uri="{FF2B5EF4-FFF2-40B4-BE49-F238E27FC236}">
                <a16:creationId xmlns:a16="http://schemas.microsoft.com/office/drawing/2014/main" id="{C810E580-0214-B499-1A7B-692214DAC3B5}"/>
              </a:ext>
            </a:extLst>
          </p:cNvPr>
          <p:cNvSpPr txBox="1">
            <a:spLocks/>
          </p:cNvSpPr>
          <p:nvPr userDrawn="1"/>
        </p:nvSpPr>
        <p:spPr>
          <a:xfrm>
            <a:off x="11296611" y="142125"/>
            <a:ext cx="731600" cy="524314"/>
          </a:xfrm>
          <a:prstGeom prst="rect">
            <a:avLst/>
          </a:prstGeom>
        </p:spPr>
        <p:txBody>
          <a:bodyPr spcFirstLastPara="1" vert="horz" wrap="square" lIns="121787" tIns="121787" rIns="121787" bIns="121787" rtlCol="0" anchor="ctr" anchorCtr="0">
            <a:normAutofit/>
          </a:bodyPr>
          <a:lstStyle>
            <a:defPPr>
              <a:defRPr lang="en-US"/>
            </a:defPPr>
            <a:lvl1pPr marL="0" lvl="0" algn="r" defTabSz="457200" rtl="0" eaLnBrk="1" latinLnBrk="0" hangingPunct="1">
              <a:buNone/>
              <a:defRPr sz="9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en" sz="1332" smtClean="0">
                <a:solidFill>
                  <a:schemeClr val="accent4"/>
                </a:solidFill>
              </a:rPr>
              <a:pPr/>
              <a:t>‹#›</a:t>
            </a:fld>
            <a:endParaRPr lang="en" sz="1332" dirty="0">
              <a:solidFill>
                <a:schemeClr val="accent4"/>
              </a:solidFill>
            </a:endParaRPr>
          </a:p>
        </p:txBody>
      </p:sp>
      <p:sp>
        <p:nvSpPr>
          <p:cNvPr id="7" name="Google Shape;20;p3">
            <a:extLst>
              <a:ext uri="{FF2B5EF4-FFF2-40B4-BE49-F238E27FC236}">
                <a16:creationId xmlns:a16="http://schemas.microsoft.com/office/drawing/2014/main" id="{E17E7E9F-41BA-A475-58BE-A6B41BA0F53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15600" y="206826"/>
            <a:ext cx="5024400" cy="5243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599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1066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1066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1066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1066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1066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1066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1066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1066"/>
            </a:lvl9pPr>
          </a:lstStyle>
          <a:p>
            <a:endParaRPr dirty="0"/>
          </a:p>
        </p:txBody>
      </p:sp>
      <p:sp>
        <p:nvSpPr>
          <p:cNvPr id="8" name="Google Shape;47;p7">
            <a:extLst>
              <a:ext uri="{FF2B5EF4-FFF2-40B4-BE49-F238E27FC236}">
                <a16:creationId xmlns:a16="http://schemas.microsoft.com/office/drawing/2014/main" id="{83A6712A-1F22-399B-171E-7C9F9EAA29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0067" y="1564052"/>
            <a:ext cx="5024400" cy="31874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9pPr>
          </a:lstStyle>
          <a:p>
            <a:endParaRPr dirty="0"/>
          </a:p>
        </p:txBody>
      </p:sp>
      <p:sp>
        <p:nvSpPr>
          <p:cNvPr id="9" name="Google Shape;48;p7">
            <a:extLst>
              <a:ext uri="{FF2B5EF4-FFF2-40B4-BE49-F238E27FC236}">
                <a16:creationId xmlns:a16="http://schemas.microsoft.com/office/drawing/2014/main" id="{49FD2391-EFD0-6827-0E38-58DE2B3470A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92467" y="4668777"/>
            <a:ext cx="3047600" cy="22758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036" lvl="0" indent="-43985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2131">
                <a:solidFill>
                  <a:schemeClr val="dk1"/>
                </a:solidFill>
              </a:defRPr>
            </a:lvl1pPr>
            <a:lvl2pPr marL="1218072" lvl="1" indent="-40602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599">
                <a:solidFill>
                  <a:schemeClr val="dk1"/>
                </a:solidFill>
              </a:defRPr>
            </a:lvl2pPr>
            <a:lvl3pPr marL="1827108" lvl="2" indent="-40602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599">
                <a:solidFill>
                  <a:schemeClr val="dk1"/>
                </a:solidFill>
              </a:defRPr>
            </a:lvl3pPr>
            <a:lvl4pPr marL="2436144" lvl="3" indent="-40602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599">
                <a:solidFill>
                  <a:schemeClr val="dk1"/>
                </a:solidFill>
              </a:defRPr>
            </a:lvl4pPr>
            <a:lvl5pPr marL="3045181" lvl="4" indent="-40602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599">
                <a:solidFill>
                  <a:schemeClr val="dk1"/>
                </a:solidFill>
              </a:defRPr>
            </a:lvl5pPr>
            <a:lvl6pPr marL="3654217" lvl="5" indent="-40602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599">
                <a:solidFill>
                  <a:schemeClr val="dk1"/>
                </a:solidFill>
              </a:defRPr>
            </a:lvl6pPr>
            <a:lvl7pPr marL="4263253" lvl="6" indent="-40602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599">
                <a:solidFill>
                  <a:schemeClr val="dk1"/>
                </a:solidFill>
              </a:defRPr>
            </a:lvl7pPr>
            <a:lvl8pPr marL="4872289" lvl="7" indent="-40602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599">
                <a:solidFill>
                  <a:schemeClr val="dk1"/>
                </a:solidFill>
              </a:defRPr>
            </a:lvl8pPr>
            <a:lvl9pPr marL="5481325" lvl="8" indent="-40602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599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49;p7">
            <a:extLst>
              <a:ext uri="{FF2B5EF4-FFF2-40B4-BE49-F238E27FC236}">
                <a16:creationId xmlns:a16="http://schemas.microsoft.com/office/drawing/2014/main" id="{604DFBEE-0D85-E431-5206-7CDE28784DF1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209833" y="1911996"/>
            <a:ext cx="5982000" cy="383045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7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B2639F9-1D91-D88F-D3F3-5EA553BFC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3B8828E-A7EA-A1D6-05AF-8FA019161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54F870-40DB-7F5F-4A4F-E33FCCF73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548FE-9F19-4BEE-BFF6-43EA06BF3895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D620CD-B2D6-12A2-4ED8-F9EEC83746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63DF9D-958D-2866-FE8D-4604AC4EC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A5F8CA-6E7F-4E2C-9E32-A49A9F246E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4253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FDF76-461D-0FB3-0D2B-B44FC26A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0AAFB82-EBF1-5F57-3B32-E07ABDA6C590}"/>
              </a:ext>
            </a:extLst>
          </p:cNvPr>
          <p:cNvSpPr txBox="1"/>
          <p:nvPr/>
        </p:nvSpPr>
        <p:spPr>
          <a:xfrm>
            <a:off x="5350065" y="128111"/>
            <a:ext cx="17775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PdO </a:t>
            </a:r>
            <a:r>
              <a:rPr lang="en-US" altLang="zh-TW" sz="280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Sobol</a:t>
            </a:r>
            <a:endParaRPr lang="en-US" altLang="zh-TW" sz="2800" b="0" baseline="-25000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E01A52F-A49A-C4B9-5549-241B8366ABD0}"/>
              </a:ext>
            </a:extLst>
          </p:cNvPr>
          <p:cNvSpPr txBox="1"/>
          <p:nvPr/>
        </p:nvSpPr>
        <p:spPr>
          <a:xfrm>
            <a:off x="788132" y="3923648"/>
            <a:ext cx="109014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#14 shows carrier concentration of 1.74E+19/cm</a:t>
            </a:r>
            <a:r>
              <a:rPr lang="en-US" altLang="zh-TW" sz="2400" baseline="30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and mobility of 9.91cm</a:t>
            </a:r>
            <a:r>
              <a:rPr lang="en-US" altLang="zh-TW" sz="2400" baseline="30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/V·s.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Due to the low oxidation time (1.1min,) the variance between run is very high.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Transistors will be made with these parameters.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Is it possible to base future parameters on #14?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My instinct that I cannot guarantee to be correct is dep pressure is more important than dep O</a:t>
            </a:r>
            <a:r>
              <a:rPr lang="en-US" altLang="zh-TW" sz="2400" baseline="-25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flow rate, high dep temp is better, low ox pressure is better.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2A142DE-7125-B38B-167B-98ACDAE619E9}"/>
              </a:ext>
            </a:extLst>
          </p:cNvPr>
          <p:cNvGraphicFramePr>
            <a:graphicFrameLocks noGrp="1"/>
          </p:cNvGraphicFramePr>
          <p:nvPr/>
        </p:nvGraphicFramePr>
        <p:xfrm>
          <a:off x="0" y="2048039"/>
          <a:ext cx="10328279" cy="13809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483">
                  <a:extLst>
                    <a:ext uri="{9D8B030D-6E8A-4147-A177-3AD203B41FA5}">
                      <a16:colId xmlns:a16="http://schemas.microsoft.com/office/drawing/2014/main" val="2171667022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2467257713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234903340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2729422723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1736631081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1649173186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236447791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953895760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1175814389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4155636953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173171230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1206210552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2376545590"/>
                    </a:ext>
                  </a:extLst>
                </a:gridCol>
              </a:tblGrid>
              <a:tr h="63039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Replicate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 Power (W)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 Flow (sccm)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 Press (</a:t>
                      </a:r>
                      <a:r>
                        <a:rPr lang="en-US" sz="11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mTorr</a:t>
                      </a: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 Temp (°C)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Ox Temp (°C)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Ox Press (atm)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Ox Time (min)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Vac Ann Temp (°C)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Vac Ann Time (min)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 Thickness (nm)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Hall mobility (cm^2/V*s)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Carrier concentration (#/cm^3)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058553"/>
                  </a:ext>
                </a:extLst>
              </a:tr>
              <a:tr h="1744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13.4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425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694.7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217.4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29.1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9.91 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1.74E+19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62752476"/>
                  </a:ext>
                </a:extLst>
              </a:tr>
              <a:tr h="32982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13.4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425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694.7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217.4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29.1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&lt;Contact Fail&gt;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&lt;Contact Fail&gt;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41614173"/>
                  </a:ext>
                </a:extLst>
              </a:tr>
              <a:tr h="1744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13.4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425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694.7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217.4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29.1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6.28 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1.53E+19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64521345"/>
                  </a:ext>
                </a:extLst>
              </a:tr>
            </a:tbl>
          </a:graphicData>
        </a:graphic>
      </p:graphicFrame>
      <p:pic>
        <p:nvPicPr>
          <p:cNvPr id="7" name="圖片 6">
            <a:extLst>
              <a:ext uri="{FF2B5EF4-FFF2-40B4-BE49-F238E27FC236}">
                <a16:creationId xmlns:a16="http://schemas.microsoft.com/office/drawing/2014/main" id="{CE46890B-9990-F02A-681D-63EC9C992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029" y="1850927"/>
            <a:ext cx="1839790" cy="177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396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5027A-1D35-27C1-5B1F-0318792FC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19801C7-1A55-76E8-C59B-1CC33B9A7ED8}"/>
              </a:ext>
            </a:extLst>
          </p:cNvPr>
          <p:cNvSpPr txBox="1"/>
          <p:nvPr/>
        </p:nvSpPr>
        <p:spPr>
          <a:xfrm>
            <a:off x="5350065" y="128111"/>
            <a:ext cx="17775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PdO </a:t>
            </a:r>
            <a:r>
              <a:rPr lang="en-US" altLang="zh-TW" sz="280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Sobol</a:t>
            </a:r>
            <a:endParaRPr lang="en-US" altLang="zh-TW" sz="2800" b="0" baseline="-25000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03E876F-4087-98C3-1C96-9E276D21E160}"/>
              </a:ext>
            </a:extLst>
          </p:cNvPr>
          <p:cNvSpPr txBox="1"/>
          <p:nvPr/>
        </p:nvSpPr>
        <p:spPr>
          <a:xfrm>
            <a:off x="5901826" y="1146420"/>
            <a:ext cx="608329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All 23 experimental splits are finished.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Thickness of annealed film is estimated base on previous XRR values (3nm as deposited film grew into 5nm film after oxidation.)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Vacuum anneal at higher than ~550℃ cause contact fail, possibly due to discontinuous film.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#11 shows contact fail but vacuum anneal temperature is &lt;500℃.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#17 shows contact fail due to no deposition.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Low oxidation pressure seems to be important. I’ll try reducing oxygen flow rate to see if we can get lower pressure without hampering oxidation.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4904481-23C8-47DE-40F3-3D7CF4A63E68}"/>
              </a:ext>
            </a:extLst>
          </p:cNvPr>
          <p:cNvGraphicFramePr>
            <a:graphicFrameLocks noGrp="1"/>
          </p:cNvGraphicFramePr>
          <p:nvPr/>
        </p:nvGraphicFramePr>
        <p:xfrm>
          <a:off x="314325" y="922337"/>
          <a:ext cx="5464181" cy="5759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199">
                  <a:extLst>
                    <a:ext uri="{9D8B030D-6E8A-4147-A177-3AD203B41FA5}">
                      <a16:colId xmlns:a16="http://schemas.microsoft.com/office/drawing/2014/main" val="3646868603"/>
                    </a:ext>
                  </a:extLst>
                </a:gridCol>
                <a:gridCol w="260199">
                  <a:extLst>
                    <a:ext uri="{9D8B030D-6E8A-4147-A177-3AD203B41FA5}">
                      <a16:colId xmlns:a16="http://schemas.microsoft.com/office/drawing/2014/main" val="1293296912"/>
                    </a:ext>
                  </a:extLst>
                </a:gridCol>
                <a:gridCol w="260199">
                  <a:extLst>
                    <a:ext uri="{9D8B030D-6E8A-4147-A177-3AD203B41FA5}">
                      <a16:colId xmlns:a16="http://schemas.microsoft.com/office/drawing/2014/main" val="4129592915"/>
                    </a:ext>
                  </a:extLst>
                </a:gridCol>
                <a:gridCol w="260199">
                  <a:extLst>
                    <a:ext uri="{9D8B030D-6E8A-4147-A177-3AD203B41FA5}">
                      <a16:colId xmlns:a16="http://schemas.microsoft.com/office/drawing/2014/main" val="1861838373"/>
                    </a:ext>
                  </a:extLst>
                </a:gridCol>
                <a:gridCol w="260199">
                  <a:extLst>
                    <a:ext uri="{9D8B030D-6E8A-4147-A177-3AD203B41FA5}">
                      <a16:colId xmlns:a16="http://schemas.microsoft.com/office/drawing/2014/main" val="636840555"/>
                    </a:ext>
                  </a:extLst>
                </a:gridCol>
                <a:gridCol w="260199">
                  <a:extLst>
                    <a:ext uri="{9D8B030D-6E8A-4147-A177-3AD203B41FA5}">
                      <a16:colId xmlns:a16="http://schemas.microsoft.com/office/drawing/2014/main" val="81235043"/>
                    </a:ext>
                  </a:extLst>
                </a:gridCol>
                <a:gridCol w="260199">
                  <a:extLst>
                    <a:ext uri="{9D8B030D-6E8A-4147-A177-3AD203B41FA5}">
                      <a16:colId xmlns:a16="http://schemas.microsoft.com/office/drawing/2014/main" val="1324418278"/>
                    </a:ext>
                  </a:extLst>
                </a:gridCol>
                <a:gridCol w="260199">
                  <a:extLst>
                    <a:ext uri="{9D8B030D-6E8A-4147-A177-3AD203B41FA5}">
                      <a16:colId xmlns:a16="http://schemas.microsoft.com/office/drawing/2014/main" val="3936789080"/>
                    </a:ext>
                  </a:extLst>
                </a:gridCol>
                <a:gridCol w="260199">
                  <a:extLst>
                    <a:ext uri="{9D8B030D-6E8A-4147-A177-3AD203B41FA5}">
                      <a16:colId xmlns:a16="http://schemas.microsoft.com/office/drawing/2014/main" val="4293571361"/>
                    </a:ext>
                  </a:extLst>
                </a:gridCol>
                <a:gridCol w="260199">
                  <a:extLst>
                    <a:ext uri="{9D8B030D-6E8A-4147-A177-3AD203B41FA5}">
                      <a16:colId xmlns:a16="http://schemas.microsoft.com/office/drawing/2014/main" val="4127858093"/>
                    </a:ext>
                  </a:extLst>
                </a:gridCol>
                <a:gridCol w="260199">
                  <a:extLst>
                    <a:ext uri="{9D8B030D-6E8A-4147-A177-3AD203B41FA5}">
                      <a16:colId xmlns:a16="http://schemas.microsoft.com/office/drawing/2014/main" val="2179092369"/>
                    </a:ext>
                  </a:extLst>
                </a:gridCol>
                <a:gridCol w="260199">
                  <a:extLst>
                    <a:ext uri="{9D8B030D-6E8A-4147-A177-3AD203B41FA5}">
                      <a16:colId xmlns:a16="http://schemas.microsoft.com/office/drawing/2014/main" val="3527779360"/>
                    </a:ext>
                  </a:extLst>
                </a:gridCol>
                <a:gridCol w="260199">
                  <a:extLst>
                    <a:ext uri="{9D8B030D-6E8A-4147-A177-3AD203B41FA5}">
                      <a16:colId xmlns:a16="http://schemas.microsoft.com/office/drawing/2014/main" val="4261312677"/>
                    </a:ext>
                  </a:extLst>
                </a:gridCol>
                <a:gridCol w="260199">
                  <a:extLst>
                    <a:ext uri="{9D8B030D-6E8A-4147-A177-3AD203B41FA5}">
                      <a16:colId xmlns:a16="http://schemas.microsoft.com/office/drawing/2014/main" val="1825789328"/>
                    </a:ext>
                  </a:extLst>
                </a:gridCol>
                <a:gridCol w="260199">
                  <a:extLst>
                    <a:ext uri="{9D8B030D-6E8A-4147-A177-3AD203B41FA5}">
                      <a16:colId xmlns:a16="http://schemas.microsoft.com/office/drawing/2014/main" val="1545237265"/>
                    </a:ext>
                  </a:extLst>
                </a:gridCol>
                <a:gridCol w="260199">
                  <a:extLst>
                    <a:ext uri="{9D8B030D-6E8A-4147-A177-3AD203B41FA5}">
                      <a16:colId xmlns:a16="http://schemas.microsoft.com/office/drawing/2014/main" val="667321618"/>
                    </a:ext>
                  </a:extLst>
                </a:gridCol>
                <a:gridCol w="260199">
                  <a:extLst>
                    <a:ext uri="{9D8B030D-6E8A-4147-A177-3AD203B41FA5}">
                      <a16:colId xmlns:a16="http://schemas.microsoft.com/office/drawing/2014/main" val="2435692010"/>
                    </a:ext>
                  </a:extLst>
                </a:gridCol>
                <a:gridCol w="520399">
                  <a:extLst>
                    <a:ext uri="{9D8B030D-6E8A-4147-A177-3AD203B41FA5}">
                      <a16:colId xmlns:a16="http://schemas.microsoft.com/office/drawing/2014/main" val="3830690709"/>
                    </a:ext>
                  </a:extLst>
                </a:gridCol>
                <a:gridCol w="520399">
                  <a:extLst>
                    <a:ext uri="{9D8B030D-6E8A-4147-A177-3AD203B41FA5}">
                      <a16:colId xmlns:a16="http://schemas.microsoft.com/office/drawing/2014/main" val="752577474"/>
                    </a:ext>
                  </a:extLst>
                </a:gridCol>
              </a:tblGrid>
              <a:tr h="21016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Base_Run_ID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Replicate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Dep Power (W)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O2 Flow (sccm)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Dep Press (mTorr)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Dep Temp (°C)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Ox Temp (°C)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Ox Press (atm)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Ox Time (min)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Vac Ann Temp (°C)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Vac Ann Time (min)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Dep Thickness (nm)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Dep Rate (nm/min)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Dep Time (min)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min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sec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Hall mobility (cm^2/V*s)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Carrier concentration (#/cm^3)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40554525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557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98.8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584.1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90.1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0.24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32.08333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372933844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557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98.8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584.1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90.1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0.24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32.08333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312996529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557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98.8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584.1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90.1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0.24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32.08333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610750365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476.8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14.3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155.4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18.1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3.1875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4.36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1.74E+20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832179569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476.8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14.3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155.4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18.1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3.1875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4.33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1.60E+20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510816019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476.8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14.3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155.4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18.1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3.1875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4.49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1.58E+20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421088635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262.5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71.7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400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57.9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0.458333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3.89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1.96E+20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290425386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262.5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71.7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400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57.9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0.458333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4.14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1.92E+20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208518352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262.5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71.7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400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57.9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0.458333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4.26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1.83E+20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861014240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16.9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774.1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39.9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728.4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73.6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88739967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16.9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774.1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39.9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728.4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73.6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616620519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16.9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774.1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39.9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728.4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73.6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936560688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661.6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82.5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288.6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1.91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5.61E+19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854839792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661.6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82.5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288.6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2.62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4.60E+19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363678663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661.6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82.5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288.6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2.06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5.29E+19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016137090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19.1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300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58.2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620.4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77.2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1.903226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825647352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19.1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300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58.2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620.4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77.2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1.903226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988044327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19.1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300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58.2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620.4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77.2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1.903226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277486990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364.3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474.1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3.909091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7.25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5.66E+19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989958832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364.3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474.1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3.909091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6.71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5.85E+19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510639920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364.3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474.1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3.909091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6.58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5.81E+19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814507054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14.2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594.5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26.1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48.9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14.6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2.125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1.70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1.19E+20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475878503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14.2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594.5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26.1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48.9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14.6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2.125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1.43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1.47E+20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4189676024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14.2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594.5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26.1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48.9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14.6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2.125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1.34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1.85E+20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722769707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429.6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229.6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0.48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2.98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5.51E+19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831088340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429.6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229.6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0.48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3.14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4.55E+19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141497377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429.6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229.6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0.48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2.84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5.06E+19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495761947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15.7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536.8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45.4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655.2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88.1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494718686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15.7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536.8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45.4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655.2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88.1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4206259515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15.7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536.8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45.4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655.2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88.1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503921309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732.2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108.5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415.1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105.6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1.807692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618973812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732.2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108.5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415.1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105.6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1.807692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778926234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732.2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108.5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415.1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105.6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1.807692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50893008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231.1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20.3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83.7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4.928571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0.94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2.79E+20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794996291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231.1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20.3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83.7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4.928571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0.90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2.68E+20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050028472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231.1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20.3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83.7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4.928571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0.67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3.24E+20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206051995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343.6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96.8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546.2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101.5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560071540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343.6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96.8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546.2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101.5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299808085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343.6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96.8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546.2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101.5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970089870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13.4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694.7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217.4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29.1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2.516129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9.91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1.74E+19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429767315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13.4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694.7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217.4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29.1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2.516129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611400067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13.4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694.7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217.4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29.1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2.516129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6.28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1.53E+19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703812183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649.3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62.7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362.2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46.5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2.066667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8.68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3.16E+19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719513942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649.3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62.7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362.2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46.5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2.066667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8.91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3.17E+19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250487539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649.3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62.7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362.2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46.5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2.066667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8.94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3.26E+19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624796976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18.5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392.1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34.7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790.5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62.7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73.33333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647117958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18.5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392.1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34.7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790.5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62.7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73.33333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553094322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18.5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392.1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34.7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790.5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62.7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73.33333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285595782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790.9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322.7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85.6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#DIV/0!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#DIV/0!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#DIV/0!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979177625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790.9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322.7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85.6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#DIV/0!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#DIV/0!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#DIV/0!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946980538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790.9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322.7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85.6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#DIV/0!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#DIV/0!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#DIV/0!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411165594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17.9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243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102.5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757.3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37.6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1.944444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302634677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17.9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243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102.5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757.3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37.6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1.944444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4179003877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17.9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243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102.5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757.3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37.6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1.944444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&lt;Contact Fail&gt;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754059423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497.4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43.8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512.8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0.44186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2.28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2.36E+20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117451215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497.4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43.8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512.8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0.44186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2.49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2.01E+20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4176816304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497.4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43.8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512.8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0.44186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2.47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2.12E+20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015755987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539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68.2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178.3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110.4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12.28571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7.28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2.50E+19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760386323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539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68.2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178.3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110.4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12.28571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7.66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2.74E+19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868915414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539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68.2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178.3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110.4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12.28571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7.67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2.59E+19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327960413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576.5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54.5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454.7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24.7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3.176471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7.48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5.16E+19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4078437899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576.5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54.5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454.7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24.7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3.176471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7.37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4.56E+19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598597131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576.5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0.02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54.5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454.7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24.7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5.4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3.176471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7.67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4.95E+19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629889119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384.9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86.4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116.8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98.5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5.58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1.28E+20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788378872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384.9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86.4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116.8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98.5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4.98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1.38E+20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020150764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10.7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384.9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86.4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116.8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98.5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7.2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3.6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4.89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1.38E+20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602565115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280.5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263.1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67.1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0.92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5.01E+19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4263158612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280.5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263.1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67.1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1.01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3.87E+19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829579106"/>
                  </a:ext>
                </a:extLst>
              </a:tr>
              <a:tr h="8041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8.1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425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280.5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30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263.1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67.1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9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Batch 1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1.5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6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400" u="none" strike="noStrike">
                          <a:effectLst/>
                        </a:rPr>
                        <a:t>0</a:t>
                      </a:r>
                      <a:endParaRPr lang="en-US" altLang="zh-TW" sz="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500" u="none" strike="noStrike">
                          <a:effectLst/>
                        </a:rPr>
                        <a:t>1.01 </a:t>
                      </a:r>
                      <a:endParaRPr lang="en-US" altLang="zh-TW" sz="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500" u="none" strike="noStrike" dirty="0">
                          <a:effectLst/>
                        </a:rPr>
                        <a:t>3.34E+19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43287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032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185BE-C378-6558-2A7C-7AFF8C319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D955BFC-D2D7-084B-D56F-34393E96A3BD}"/>
              </a:ext>
            </a:extLst>
          </p:cNvPr>
          <p:cNvSpPr txBox="1"/>
          <p:nvPr/>
        </p:nvSpPr>
        <p:spPr>
          <a:xfrm>
            <a:off x="5350065" y="128111"/>
            <a:ext cx="17775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PdO </a:t>
            </a:r>
            <a:r>
              <a:rPr lang="en-US" altLang="zh-TW" sz="280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Sobol</a:t>
            </a:r>
            <a:endParaRPr lang="en-US" altLang="zh-TW" sz="2800" b="0" baseline="-25000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7503F7D-8465-1732-E870-AEEA36A5C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938751"/>
              </p:ext>
            </p:extLst>
          </p:nvPr>
        </p:nvGraphicFramePr>
        <p:xfrm>
          <a:off x="2123585" y="1978026"/>
          <a:ext cx="7944830" cy="6303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483">
                  <a:extLst>
                    <a:ext uri="{9D8B030D-6E8A-4147-A177-3AD203B41FA5}">
                      <a16:colId xmlns:a16="http://schemas.microsoft.com/office/drawing/2014/main" val="683169591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1016725487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2007794978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4144965848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3789170727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2782334516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2642770224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53889695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785047822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2153811383"/>
                    </a:ext>
                  </a:extLst>
                </a:gridCol>
              </a:tblGrid>
              <a:tr h="63039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 Power (W)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 Flow (sccm)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 Press (</a:t>
                      </a:r>
                      <a:r>
                        <a:rPr lang="en-US" sz="11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mTorr</a:t>
                      </a: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 Temp (°C)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Ox Temp (°C)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Ox Press (atm)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Ox Time (min)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Vac Ann Temp (°C)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Vac Ann Time (min)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 Thickness (nm)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99723584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CA3AE1F-0902-A4F2-EBCE-9E8B536D0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907767"/>
              </p:ext>
            </p:extLst>
          </p:nvPr>
        </p:nvGraphicFramePr>
        <p:xfrm>
          <a:off x="5301517" y="3890875"/>
          <a:ext cx="1588966" cy="6303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483">
                  <a:extLst>
                    <a:ext uri="{9D8B030D-6E8A-4147-A177-3AD203B41FA5}">
                      <a16:colId xmlns:a16="http://schemas.microsoft.com/office/drawing/2014/main" val="1793587386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1170239357"/>
                    </a:ext>
                  </a:extLst>
                </a:gridCol>
              </a:tblGrid>
              <a:tr h="63039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Hall mobility (cm^2/V*s)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Carrier concentration (#/cm^3)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38112901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A96B4D10-308A-395B-2043-121A04EA62C7}"/>
              </a:ext>
            </a:extLst>
          </p:cNvPr>
          <p:cNvSpPr txBox="1"/>
          <p:nvPr/>
        </p:nvSpPr>
        <p:spPr>
          <a:xfrm>
            <a:off x="1605300" y="5050358"/>
            <a:ext cx="92670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Since every parameter can be finetuned individually</a:t>
            </a:r>
            <a:r>
              <a:rPr lang="en-US" altLang="zh-TW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, and every parameter changes mobility as well as concentration, the graph should look like this. Mobility and carrier concentration </a:t>
            </a:r>
            <a:r>
              <a:rPr lang="en-US" altLang="zh-TW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also influence </a:t>
            </a:r>
            <a:r>
              <a:rPr lang="en-US" altLang="zh-TW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each other.</a:t>
            </a:r>
            <a:endParaRPr lang="en-US" altLang="zh-TW" sz="18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73414237-E667-9C15-3B16-CC44ABB0C12C}"/>
              </a:ext>
            </a:extLst>
          </p:cNvPr>
          <p:cNvCxnSpPr/>
          <p:nvPr/>
        </p:nvCxnSpPr>
        <p:spPr>
          <a:xfrm>
            <a:off x="2502877" y="2608417"/>
            <a:ext cx="3141785" cy="1282458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7F42D444-B1BC-F64C-7FE9-3DECBCA85103}"/>
              </a:ext>
            </a:extLst>
          </p:cNvPr>
          <p:cNvCxnSpPr>
            <a:cxnSpLocks/>
          </p:cNvCxnSpPr>
          <p:nvPr/>
        </p:nvCxnSpPr>
        <p:spPr>
          <a:xfrm>
            <a:off x="2502877" y="2619838"/>
            <a:ext cx="4044463" cy="127103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EEE41A0D-7F0E-9EAB-7905-5081BFFE3DD7}"/>
              </a:ext>
            </a:extLst>
          </p:cNvPr>
          <p:cNvCxnSpPr>
            <a:cxnSpLocks/>
          </p:cNvCxnSpPr>
          <p:nvPr/>
        </p:nvCxnSpPr>
        <p:spPr>
          <a:xfrm>
            <a:off x="3300046" y="2608417"/>
            <a:ext cx="2297723" cy="1282458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2463FABB-C828-0F54-BC28-CE9A676FD827}"/>
              </a:ext>
            </a:extLst>
          </p:cNvPr>
          <p:cNvCxnSpPr>
            <a:cxnSpLocks/>
          </p:cNvCxnSpPr>
          <p:nvPr/>
        </p:nvCxnSpPr>
        <p:spPr>
          <a:xfrm>
            <a:off x="3300046" y="2596996"/>
            <a:ext cx="3247294" cy="1282458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027A54FD-41D8-6D29-2CC5-4A9F4C67F185}"/>
              </a:ext>
            </a:extLst>
          </p:cNvPr>
          <p:cNvCxnSpPr>
            <a:cxnSpLocks/>
          </p:cNvCxnSpPr>
          <p:nvPr/>
        </p:nvCxnSpPr>
        <p:spPr>
          <a:xfrm>
            <a:off x="4097216" y="2585575"/>
            <a:ext cx="1500553" cy="130530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AF4C7236-4967-177F-B38C-CF1C2DD0320F}"/>
              </a:ext>
            </a:extLst>
          </p:cNvPr>
          <p:cNvCxnSpPr>
            <a:cxnSpLocks/>
          </p:cNvCxnSpPr>
          <p:nvPr/>
        </p:nvCxnSpPr>
        <p:spPr>
          <a:xfrm>
            <a:off x="4097216" y="2585575"/>
            <a:ext cx="2397369" cy="1293879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95117E6C-4CE1-62D8-F26C-C54F1487A442}"/>
              </a:ext>
            </a:extLst>
          </p:cNvPr>
          <p:cNvCxnSpPr>
            <a:cxnSpLocks/>
          </p:cNvCxnSpPr>
          <p:nvPr/>
        </p:nvCxnSpPr>
        <p:spPr>
          <a:xfrm>
            <a:off x="4870938" y="2596996"/>
            <a:ext cx="726831" cy="1282458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35C80969-B16F-2B73-E16C-34B0A27C8A2E}"/>
              </a:ext>
            </a:extLst>
          </p:cNvPr>
          <p:cNvCxnSpPr>
            <a:cxnSpLocks/>
          </p:cNvCxnSpPr>
          <p:nvPr/>
        </p:nvCxnSpPr>
        <p:spPr>
          <a:xfrm>
            <a:off x="4847492" y="2586158"/>
            <a:ext cx="1647093" cy="1293296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AB16D180-DF1B-8F5E-B294-9B9D197F252D}"/>
              </a:ext>
            </a:extLst>
          </p:cNvPr>
          <p:cNvCxnSpPr>
            <a:cxnSpLocks/>
          </p:cNvCxnSpPr>
          <p:nvPr/>
        </p:nvCxnSpPr>
        <p:spPr>
          <a:xfrm flipH="1">
            <a:off x="5597769" y="2585575"/>
            <a:ext cx="70339" cy="130471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480EB168-AB08-71F5-3E54-94CBA59A929B}"/>
              </a:ext>
            </a:extLst>
          </p:cNvPr>
          <p:cNvCxnSpPr>
            <a:cxnSpLocks/>
          </p:cNvCxnSpPr>
          <p:nvPr/>
        </p:nvCxnSpPr>
        <p:spPr>
          <a:xfrm>
            <a:off x="5650523" y="2586158"/>
            <a:ext cx="844062" cy="1314972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5A2D8F8D-6931-2AED-BD67-65CBE5EA765C}"/>
              </a:ext>
            </a:extLst>
          </p:cNvPr>
          <p:cNvCxnSpPr>
            <a:cxnSpLocks/>
          </p:cNvCxnSpPr>
          <p:nvPr/>
        </p:nvCxnSpPr>
        <p:spPr>
          <a:xfrm flipH="1">
            <a:off x="5597768" y="2585575"/>
            <a:ext cx="844063" cy="130471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C9100819-A6B8-F7AB-DD05-313FE62AB4C8}"/>
              </a:ext>
            </a:extLst>
          </p:cNvPr>
          <p:cNvCxnSpPr>
            <a:cxnSpLocks/>
          </p:cNvCxnSpPr>
          <p:nvPr/>
        </p:nvCxnSpPr>
        <p:spPr>
          <a:xfrm>
            <a:off x="6447692" y="2596704"/>
            <a:ext cx="0" cy="1293588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8D8D439A-12CA-D4C6-D06F-DCA00180832D}"/>
              </a:ext>
            </a:extLst>
          </p:cNvPr>
          <p:cNvCxnSpPr>
            <a:cxnSpLocks/>
          </p:cNvCxnSpPr>
          <p:nvPr/>
        </p:nvCxnSpPr>
        <p:spPr>
          <a:xfrm flipH="1">
            <a:off x="5545013" y="2602269"/>
            <a:ext cx="1760909" cy="128802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4260748D-C322-BA25-FD2D-B44B1CB62C82}"/>
              </a:ext>
            </a:extLst>
          </p:cNvPr>
          <p:cNvCxnSpPr>
            <a:cxnSpLocks/>
          </p:cNvCxnSpPr>
          <p:nvPr/>
        </p:nvCxnSpPr>
        <p:spPr>
          <a:xfrm flipH="1">
            <a:off x="6425467" y="2591285"/>
            <a:ext cx="880454" cy="1288169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037C41FE-ED69-F5D4-414F-EFD5CC590175}"/>
              </a:ext>
            </a:extLst>
          </p:cNvPr>
          <p:cNvCxnSpPr>
            <a:cxnSpLocks/>
          </p:cNvCxnSpPr>
          <p:nvPr/>
        </p:nvCxnSpPr>
        <p:spPr>
          <a:xfrm flipH="1">
            <a:off x="5591907" y="2591285"/>
            <a:ext cx="2511184" cy="129900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BBF1696B-B1D1-FE40-96FF-66ADC7873DA5}"/>
              </a:ext>
            </a:extLst>
          </p:cNvPr>
          <p:cNvCxnSpPr>
            <a:cxnSpLocks/>
          </p:cNvCxnSpPr>
          <p:nvPr/>
        </p:nvCxnSpPr>
        <p:spPr>
          <a:xfrm flipH="1">
            <a:off x="6453554" y="2599559"/>
            <a:ext cx="1649537" cy="129073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CD2D95D5-146C-2CFB-996A-8FEDDEAA4F15}"/>
              </a:ext>
            </a:extLst>
          </p:cNvPr>
          <p:cNvCxnSpPr>
            <a:cxnSpLocks/>
          </p:cNvCxnSpPr>
          <p:nvPr/>
        </p:nvCxnSpPr>
        <p:spPr>
          <a:xfrm flipH="1">
            <a:off x="5603630" y="2584388"/>
            <a:ext cx="3299561" cy="1295066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886981BB-F370-969B-075E-B31982CB55A3}"/>
              </a:ext>
            </a:extLst>
          </p:cNvPr>
          <p:cNvCxnSpPr>
            <a:cxnSpLocks/>
          </p:cNvCxnSpPr>
          <p:nvPr/>
        </p:nvCxnSpPr>
        <p:spPr>
          <a:xfrm flipH="1">
            <a:off x="6453554" y="2590692"/>
            <a:ext cx="2442553" cy="129960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9271DB8C-2CFE-03FF-DF55-EF61CEE6FA56}"/>
              </a:ext>
            </a:extLst>
          </p:cNvPr>
          <p:cNvCxnSpPr>
            <a:cxnSpLocks/>
          </p:cNvCxnSpPr>
          <p:nvPr/>
        </p:nvCxnSpPr>
        <p:spPr>
          <a:xfrm flipH="1">
            <a:off x="5628297" y="2596996"/>
            <a:ext cx="4069987" cy="1293296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3D47D326-8C65-5935-90DF-C1DF83EA068A}"/>
              </a:ext>
            </a:extLst>
          </p:cNvPr>
          <p:cNvCxnSpPr>
            <a:cxnSpLocks/>
          </p:cNvCxnSpPr>
          <p:nvPr/>
        </p:nvCxnSpPr>
        <p:spPr>
          <a:xfrm flipH="1">
            <a:off x="6459416" y="2608417"/>
            <a:ext cx="3229707" cy="1281875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9C634870-5BBF-BB9C-41CA-6EC501586BC1}"/>
              </a:ext>
            </a:extLst>
          </p:cNvPr>
          <p:cNvCxnSpPr>
            <a:cxnSpLocks/>
          </p:cNvCxnSpPr>
          <p:nvPr/>
        </p:nvCxnSpPr>
        <p:spPr>
          <a:xfrm>
            <a:off x="5846214" y="3960756"/>
            <a:ext cx="499572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9880AA7D-E855-FDC3-DA4A-07054ADAF792}"/>
              </a:ext>
            </a:extLst>
          </p:cNvPr>
          <p:cNvCxnSpPr>
            <a:cxnSpLocks/>
          </p:cNvCxnSpPr>
          <p:nvPr/>
        </p:nvCxnSpPr>
        <p:spPr>
          <a:xfrm flipH="1">
            <a:off x="5843862" y="4029908"/>
            <a:ext cx="501924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232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2174</Words>
  <Application>Microsoft Office PowerPoint</Application>
  <PresentationFormat>寬螢幕</PresentationFormat>
  <Paragraphs>1409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陳冠華</dc:creator>
  <cp:lastModifiedBy>陳冠華</cp:lastModifiedBy>
  <cp:revision>5</cp:revision>
  <dcterms:created xsi:type="dcterms:W3CDTF">2026-05-21T15:38:56Z</dcterms:created>
  <dcterms:modified xsi:type="dcterms:W3CDTF">2026-05-21T18:03:20Z</dcterms:modified>
</cp:coreProperties>
</file>