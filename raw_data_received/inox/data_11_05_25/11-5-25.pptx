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8" r:id="rId2"/>
    <p:sldId id="670" r:id="rId3"/>
    <p:sldId id="675" r:id="rId4"/>
    <p:sldId id="676" r:id="rId5"/>
    <p:sldId id="258" r:id="rId6"/>
    <p:sldId id="669" r:id="rId7"/>
    <p:sldId id="678" r:id="rId8"/>
    <p:sldId id="67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359A-05A2-CAF1-23F5-1F07F82F5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14291-A9BB-C855-4B6F-F51749C7E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BD8D-AD7A-8C1D-B4CC-BAAA874C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8F3D0-872D-A37E-0EA1-7C18452F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2713-0341-FBD1-F993-B532E2DC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66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A24C-63A5-EC63-F1AE-AAE79A43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B1CF-CDD8-86AD-4063-9312C1B49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3D70-7726-BBDB-29F0-644039A8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ACE7-35F5-0FDE-14F6-6F5437C9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7414-CA89-F424-64D1-FD156BA2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6988-6DA6-835F-FAA8-842CF5A6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EB36D-EC04-2181-8A0D-E55C0DC16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3D7AB-17CE-49F5-B37C-B2F49309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F5E57-BE4B-969E-6499-615F33A6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1A7F0-F755-352E-9404-5C030BDB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15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EB35-DEC3-0676-7F0D-FFD51448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60947-2BA1-397D-B453-97BD8F041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9B38E-7494-2687-661E-7908A278E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634ED-2A0C-6AB7-95BC-B7F059C0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2F503-8055-D970-4F29-E64CFD62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5E895-0FF0-4F98-7767-232E1611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5596-C63E-9D54-CFE6-78B596D7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0A15-9336-FFAE-01EA-68BBF6B4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D61D1-6BA9-B3EA-2AA5-88AAF068D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CE9DC-2316-2B69-940E-83E68C934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A5241-D82A-59A9-A628-B079AB66F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A53C3E-771D-BB3B-4F0C-38C8AEE1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6FD891-328B-9AFA-327D-8A56CB27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AABDB-01AE-5A91-500B-40DF24C8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4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E31F-1F36-DA18-F6D8-189B8720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4ABE4-821E-5C75-69FB-6B71717B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FD10A-5766-F56F-607C-86C2890C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EEAC7-045C-0C18-2419-3E8A56CB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36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8B3E3-BC4C-BE5A-DAEF-5162DD10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6D2FC-6310-013A-A0F0-E52DF606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DEAB0-4423-1413-B34A-FCC86DCE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28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AEE1-A926-CDD0-A9A5-10C63B16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A666-EB7C-7C76-7277-7956A2E9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3F1F8-ECCB-593A-CFA3-35AD17D01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A853E-E60F-DE01-50BC-302C4667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AB2E-F895-5503-0248-E8A68D42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ADFE4-4B41-8C71-1E54-AA41107C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1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9E98-398C-E359-CC8B-CD4F40EC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4CFEB-94E5-AB65-9379-C46803BE9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1978A-A6A3-E122-3008-6D7B64731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00D94-7819-5634-939B-8560C597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4A4E7-B7F7-1A76-59AA-3D8C2FFC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8121E-6A37-C5B8-9F6F-6D567186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7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D437-E471-CE8E-C59E-BDA26E03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0D34E-6D29-3AA5-B73B-ED16F6AE1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EC36A-405C-F19D-F210-B4BC686E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B47D9-0799-0794-76F6-DB107D3E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46C04-5512-B2A0-286B-99B8C8B7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41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02C19-0189-F402-A66F-F53A494C1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BAFAA-98EC-6F15-7DE6-FA3D60B56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66531-489D-ED0E-E8B2-F5C46619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C076-CAB1-6B98-235C-26F59609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1F8CB-E929-7D63-80DA-467E8D5E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12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94922-BF52-D742-22F5-3C359C54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96121-781F-0EF8-D8E2-098B992E6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9BD99-665C-5CA7-2987-D951CF800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D11A-9E5F-4E81-AB52-D800B167283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27D1F-0AFC-4A0B-4993-90088EE6E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1375D-CC7D-826F-355F-EC5D196F2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D27C1-75CF-49FA-9F5D-1A4E42F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8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8DE13-BA09-D59B-DFEF-28BAFA7F4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8" y="2489482"/>
            <a:ext cx="11357824" cy="17036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2E460-0F76-C7CE-EE15-30F07BBDADAA}"/>
              </a:ext>
            </a:extLst>
          </p:cNvPr>
          <p:cNvSpPr txBox="1"/>
          <p:nvPr/>
        </p:nvSpPr>
        <p:spPr>
          <a:xfrm>
            <a:off x="742565" y="811250"/>
            <a:ext cx="11107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Previous</a:t>
            </a:r>
            <a:r>
              <a:rPr lang="en-US" altLang="zh-CN" dirty="0"/>
              <a:t>: We repeated three samples for each condition from 1 to 5 and performed XRD and XPS measurements on each sample. However, since the Corial RIE tool was down, I was unable to get the Hall mobility data. Although the Corial was back online last week, all those earlier samples had become insulating after being stored for about one month.</a:t>
            </a:r>
          </a:p>
          <a:p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45690-D58E-C913-9436-967F3FE3095F}"/>
              </a:ext>
            </a:extLst>
          </p:cNvPr>
          <p:cNvSpPr txBox="1"/>
          <p:nvPr/>
        </p:nvSpPr>
        <p:spPr>
          <a:xfrm>
            <a:off x="344466" y="300625"/>
            <a:ext cx="5217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NW Collaboration work: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7833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913B-4380-3270-4012-8A64F891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7D3A0-71F6-D407-F972-4B1EBF8D229A}"/>
              </a:ext>
            </a:extLst>
          </p:cNvPr>
          <p:cNvSpPr txBox="1"/>
          <p:nvPr/>
        </p:nvSpPr>
        <p:spPr>
          <a:xfrm>
            <a:off x="686198" y="441918"/>
            <a:ext cx="11107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 this week, we reprepared 3 samples from condition 1 to condition 8 for each condition. We also decreased the maximum power from 50W to 30W to ensure we can get the Hall mobility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Did XRD and XPS on each sample</a:t>
            </a:r>
          </a:p>
          <a:p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E6CA4-0771-B9E3-19BE-292265159C8E}"/>
              </a:ext>
            </a:extLst>
          </p:cNvPr>
          <p:cNvSpPr txBox="1"/>
          <p:nvPr/>
        </p:nvSpPr>
        <p:spPr>
          <a:xfrm>
            <a:off x="87683" y="72586"/>
            <a:ext cx="52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NW Collaboration work: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44954-5688-AB3A-8047-98F5F45D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44" y="1601921"/>
            <a:ext cx="7526056" cy="5256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534147-E3C0-B6AB-EEF9-E00988CCFE7B}"/>
              </a:ext>
            </a:extLst>
          </p:cNvPr>
          <p:cNvSpPr txBox="1"/>
          <p:nvPr/>
        </p:nvSpPr>
        <p:spPr>
          <a:xfrm>
            <a:off x="316679" y="3188293"/>
            <a:ext cx="4230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Hall mobility data are shown here. Except for conditions 1 and 2, other conditions exhibit good repeatability and reasonable values.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20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4F4B38-CF18-3759-8565-98875EDCC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54" y="0"/>
            <a:ext cx="4275724" cy="3107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DB1ED1-D719-6444-1A6D-C0DA06671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54" y="3356975"/>
            <a:ext cx="4275724" cy="3077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8D4AC-9ECA-07A1-33B1-1CF697280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4363116" cy="30774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FDB1A-A0FA-385E-2196-C3AB853C16E2}"/>
              </a:ext>
            </a:extLst>
          </p:cNvPr>
          <p:cNvSpPr txBox="1"/>
          <p:nvPr/>
        </p:nvSpPr>
        <p:spPr>
          <a:xfrm>
            <a:off x="1741117" y="3024684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Condition1</a:t>
            </a:r>
            <a:endParaRPr lang="zh-CN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B1429-0807-2FE0-F99D-DF83811D937D}"/>
              </a:ext>
            </a:extLst>
          </p:cNvPr>
          <p:cNvSpPr txBox="1"/>
          <p:nvPr/>
        </p:nvSpPr>
        <p:spPr>
          <a:xfrm>
            <a:off x="8457155" y="2987106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Condition2</a:t>
            </a:r>
            <a:endParaRPr lang="zh-CN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2F3F9-5427-14B8-D035-B969B7EF788C}"/>
              </a:ext>
            </a:extLst>
          </p:cNvPr>
          <p:cNvSpPr txBox="1"/>
          <p:nvPr/>
        </p:nvSpPr>
        <p:spPr>
          <a:xfrm>
            <a:off x="1693101" y="6434407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Condition3</a:t>
            </a:r>
            <a:endParaRPr lang="zh-CN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35F71-4663-7CDE-B909-1939B021A966}"/>
              </a:ext>
            </a:extLst>
          </p:cNvPr>
          <p:cNvSpPr txBox="1"/>
          <p:nvPr/>
        </p:nvSpPr>
        <p:spPr>
          <a:xfrm>
            <a:off x="8532311" y="6345010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Condition4</a:t>
            </a:r>
            <a:endParaRPr lang="zh-CN" alt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127CE1-FABB-6D8A-459F-7CEED0621B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86" y="85039"/>
            <a:ext cx="4182130" cy="300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2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5A409-FC21-2178-9830-72FF58E49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66952" cy="3204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9A5DA-91AC-AB0A-D31E-8C433AB1E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240" y="-11368"/>
            <a:ext cx="4330988" cy="3154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12AB1-1E68-8C09-A1AD-AB2597C78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3" y="3482027"/>
            <a:ext cx="4436495" cy="3070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AD8A61-D467-13F4-3837-FE61ED5ADD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271" y="3482027"/>
            <a:ext cx="4436495" cy="31548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379363-B439-BEB8-8DAE-812B47AB7725}"/>
              </a:ext>
            </a:extLst>
          </p:cNvPr>
          <p:cNvSpPr txBox="1"/>
          <p:nvPr/>
        </p:nvSpPr>
        <p:spPr>
          <a:xfrm>
            <a:off x="1997900" y="3090446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Condition5</a:t>
            </a:r>
            <a:endParaRPr lang="zh-CN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D278E-2E22-676D-8AD4-D30A3C95A714}"/>
              </a:ext>
            </a:extLst>
          </p:cNvPr>
          <p:cNvSpPr txBox="1"/>
          <p:nvPr/>
        </p:nvSpPr>
        <p:spPr>
          <a:xfrm>
            <a:off x="8970104" y="3034839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Condition6</a:t>
            </a:r>
            <a:endParaRPr lang="zh-CN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8B2CA8-68EE-EACC-A3E8-77624D0828E5}"/>
              </a:ext>
            </a:extLst>
          </p:cNvPr>
          <p:cNvSpPr txBox="1"/>
          <p:nvPr/>
        </p:nvSpPr>
        <p:spPr>
          <a:xfrm>
            <a:off x="1993105" y="6436430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Condition7</a:t>
            </a:r>
            <a:endParaRPr lang="zh-CN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9A2E2-6C3B-FE32-4946-EF1870535371}"/>
              </a:ext>
            </a:extLst>
          </p:cNvPr>
          <p:cNvSpPr txBox="1"/>
          <p:nvPr/>
        </p:nvSpPr>
        <p:spPr>
          <a:xfrm>
            <a:off x="8984098" y="6514893"/>
            <a:ext cx="1878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Condition8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402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DFEB-34DB-367F-FCE2-6F9A40AA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FA65BB-37BB-E0FF-007A-7C7CC2C08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072383"/>
              </p:ext>
            </p:extLst>
          </p:nvPr>
        </p:nvGraphicFramePr>
        <p:xfrm>
          <a:off x="0" y="883174"/>
          <a:ext cx="10822487" cy="375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84">
                  <a:extLst>
                    <a:ext uri="{9D8B030D-6E8A-4147-A177-3AD203B41FA5}">
                      <a16:colId xmlns:a16="http://schemas.microsoft.com/office/drawing/2014/main" val="1668178562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3422068644"/>
                    </a:ext>
                  </a:extLst>
                </a:gridCol>
                <a:gridCol w="822013">
                  <a:extLst>
                    <a:ext uri="{9D8B030D-6E8A-4147-A177-3AD203B41FA5}">
                      <a16:colId xmlns:a16="http://schemas.microsoft.com/office/drawing/2014/main" val="172350625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1705486906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1762773808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56908673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462422321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330978052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771633718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7189060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075405745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08290751"/>
                    </a:ext>
                  </a:extLst>
                </a:gridCol>
              </a:tblGrid>
              <a:tr h="64517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 1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dirty="0"/>
                        <a:t>Condition2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Condition3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Condition4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8933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Sample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231374"/>
                  </a:ext>
                </a:extLst>
              </a:tr>
              <a:tr h="70826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30.7;</a:t>
                      </a:r>
                    </a:p>
                    <a:p>
                      <a:r>
                        <a:rPr lang="en-US" altLang="zh-CN" sz="1600" dirty="0"/>
                        <a:t>2: 32.4;</a:t>
                      </a:r>
                    </a:p>
                    <a:p>
                      <a:r>
                        <a:rPr lang="en-US" altLang="zh-CN" sz="1600" dirty="0"/>
                        <a:t>3: 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30.7;</a:t>
                      </a:r>
                    </a:p>
                    <a:p>
                      <a:r>
                        <a:rPr lang="en-US" altLang="zh-CN" sz="1600" dirty="0"/>
                        <a:t>2: 35.4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30.6</a:t>
                      </a:r>
                    </a:p>
                    <a:p>
                      <a:r>
                        <a:rPr lang="en-US" altLang="zh-CN" sz="1600" dirty="0"/>
                        <a:t>2: 35.4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1:30.5</a:t>
                      </a:r>
                    </a:p>
                    <a:p>
                      <a:r>
                        <a:rPr lang="en-US" altLang="zh-CN" sz="1600" dirty="0"/>
                        <a:t>2:35.6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30.7</a:t>
                      </a:r>
                    </a:p>
                    <a:p>
                      <a:r>
                        <a:rPr lang="en-US" altLang="zh-CN" sz="1600" dirty="0"/>
                        <a:t>2: 35.5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893018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Height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</a:t>
                      </a:r>
                      <a:r>
                        <a:rPr lang="zh-CN" altLang="en-US" sz="1600" dirty="0"/>
                        <a:t> </a:t>
                      </a:r>
                      <a:r>
                        <a:rPr lang="en-US" altLang="zh-CN" sz="1600" dirty="0"/>
                        <a:t>328;</a:t>
                      </a:r>
                    </a:p>
                    <a:p>
                      <a:r>
                        <a:rPr lang="en-US" altLang="zh-CN" sz="1600" dirty="0"/>
                        <a:t>2: 1253;</a:t>
                      </a:r>
                    </a:p>
                    <a:p>
                      <a:r>
                        <a:rPr lang="en-US" altLang="zh-CN" sz="1600" dirty="0"/>
                        <a:t>3: 1076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689;</a:t>
                      </a:r>
                    </a:p>
                    <a:p>
                      <a:r>
                        <a:rPr lang="en-US" altLang="zh-CN" sz="1600" dirty="0"/>
                        <a:t>2: 832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1261</a:t>
                      </a:r>
                    </a:p>
                    <a:p>
                      <a:r>
                        <a:rPr lang="en-US" altLang="zh-CN" sz="1600" dirty="0"/>
                        <a:t>2: 630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853</a:t>
                      </a:r>
                    </a:p>
                    <a:p>
                      <a:r>
                        <a:rPr lang="en-US" altLang="zh-CN" sz="1600" dirty="0"/>
                        <a:t>2: 519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1312</a:t>
                      </a:r>
                    </a:p>
                    <a:p>
                      <a:r>
                        <a:rPr lang="en-US" altLang="zh-CN" sz="1600" dirty="0"/>
                        <a:t>2: 486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11239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11477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11524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2849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3456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3230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227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FWHM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0.12;</a:t>
                      </a:r>
                    </a:p>
                    <a:p>
                      <a:r>
                        <a:rPr lang="en-US" altLang="zh-CN" sz="1600" dirty="0"/>
                        <a:t>2: 0.26;</a:t>
                      </a:r>
                    </a:p>
                    <a:p>
                      <a:r>
                        <a:rPr lang="en-US" altLang="zh-CN" sz="1600" dirty="0"/>
                        <a:t>3: 0.12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0.09;</a:t>
                      </a:r>
                    </a:p>
                    <a:p>
                      <a:r>
                        <a:rPr lang="en-US" altLang="zh-CN" sz="1600" dirty="0"/>
                        <a:t>2: 0.05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0.35</a:t>
                      </a:r>
                    </a:p>
                    <a:p>
                      <a:r>
                        <a:rPr lang="en-US" altLang="zh-CN" sz="1600" dirty="0"/>
                        <a:t>2: 0.20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1:0.15</a:t>
                      </a:r>
                    </a:p>
                    <a:p>
                      <a:r>
                        <a:rPr lang="en-US" altLang="zh-CN" sz="1600" dirty="0"/>
                        <a:t>2:0.20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1.00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0.87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0.97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607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EE388EA-0899-C441-8C95-F31884D84496}"/>
              </a:ext>
            </a:extLst>
          </p:cNvPr>
          <p:cNvSpPr txBox="1"/>
          <p:nvPr/>
        </p:nvSpPr>
        <p:spPr>
          <a:xfrm>
            <a:off x="463463" y="179741"/>
            <a:ext cx="23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XRD data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1945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7292-A512-8317-41CB-8AB81F51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CAE632-0893-5425-528A-C5E0D04D0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44867"/>
              </p:ext>
            </p:extLst>
          </p:nvPr>
        </p:nvGraphicFramePr>
        <p:xfrm>
          <a:off x="43842" y="1522001"/>
          <a:ext cx="11724361" cy="3288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84">
                  <a:extLst>
                    <a:ext uri="{9D8B030D-6E8A-4147-A177-3AD203B41FA5}">
                      <a16:colId xmlns:a16="http://schemas.microsoft.com/office/drawing/2014/main" val="1668178562"/>
                    </a:ext>
                  </a:extLst>
                </a:gridCol>
                <a:gridCol w="897724">
                  <a:extLst>
                    <a:ext uri="{9D8B030D-6E8A-4147-A177-3AD203B41FA5}">
                      <a16:colId xmlns:a16="http://schemas.microsoft.com/office/drawing/2014/main" val="3422068644"/>
                    </a:ext>
                  </a:extLst>
                </a:gridCol>
                <a:gridCol w="822013">
                  <a:extLst>
                    <a:ext uri="{9D8B030D-6E8A-4147-A177-3AD203B41FA5}">
                      <a16:colId xmlns:a16="http://schemas.microsoft.com/office/drawing/2014/main" val="172350625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1705486906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1762773808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101835186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56908673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462422321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330978052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771633718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71890600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075405745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208290751"/>
                    </a:ext>
                  </a:extLst>
                </a:gridCol>
              </a:tblGrid>
              <a:tr h="64517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 5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Condition6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Condition7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Condition8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8933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Sample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231374"/>
                  </a:ext>
                </a:extLst>
              </a:tr>
              <a:tr h="70826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 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30.3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30.6</a:t>
                      </a:r>
                    </a:p>
                    <a:p>
                      <a:r>
                        <a:rPr lang="en-US" altLang="zh-CN" sz="1600" dirty="0"/>
                        <a:t>2: 32.5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30.1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30.1</a:t>
                      </a:r>
                    </a:p>
                    <a:p>
                      <a:r>
                        <a:rPr lang="en-US" altLang="zh-CN" sz="1600" dirty="0"/>
                        <a:t>2: 32.5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893018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Height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163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1038</a:t>
                      </a:r>
                    </a:p>
                    <a:p>
                      <a:r>
                        <a:rPr lang="en-US" altLang="zh-CN" sz="1600" dirty="0"/>
                        <a:t>2: 707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740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1452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1295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1641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1798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1694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1857</a:t>
                      </a:r>
                    </a:p>
                    <a:p>
                      <a:r>
                        <a:rPr lang="en-US" altLang="zh-CN" sz="1600" dirty="0"/>
                        <a:t>2: 926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227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FWHM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0.85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1.08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0.72</a:t>
                      </a:r>
                    </a:p>
                    <a:p>
                      <a:r>
                        <a:rPr lang="en-US" altLang="zh-CN" sz="1600" dirty="0"/>
                        <a:t>2: 0.29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0.33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1: 0.50</a:t>
                      </a:r>
                    </a:p>
                    <a:p>
                      <a:r>
                        <a:rPr lang="en-US" altLang="zh-CN" sz="1600" dirty="0"/>
                        <a:t>2: 0.31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607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43B1B8-8F19-29A3-82D1-3ADB6738FF19}"/>
              </a:ext>
            </a:extLst>
          </p:cNvPr>
          <p:cNvSpPr txBox="1"/>
          <p:nvPr/>
        </p:nvSpPr>
        <p:spPr>
          <a:xfrm>
            <a:off x="463463" y="179741"/>
            <a:ext cx="23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XRD data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5589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18F4-3736-0C8D-27E0-3FFF714C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9A14E7-223C-66D1-8E8D-8F791DC17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66159"/>
              </p:ext>
            </p:extLst>
          </p:nvPr>
        </p:nvGraphicFramePr>
        <p:xfrm>
          <a:off x="0" y="883174"/>
          <a:ext cx="11887199" cy="533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956">
                  <a:extLst>
                    <a:ext uri="{9D8B030D-6E8A-4147-A177-3AD203B41FA5}">
                      <a16:colId xmlns:a16="http://schemas.microsoft.com/office/drawing/2014/main" val="1668178562"/>
                    </a:ext>
                  </a:extLst>
                </a:gridCol>
                <a:gridCol w="858033">
                  <a:extLst>
                    <a:ext uri="{9D8B030D-6E8A-4147-A177-3AD203B41FA5}">
                      <a16:colId xmlns:a16="http://schemas.microsoft.com/office/drawing/2014/main" val="3422068644"/>
                    </a:ext>
                  </a:extLst>
                </a:gridCol>
                <a:gridCol w="926926">
                  <a:extLst>
                    <a:ext uri="{9D8B030D-6E8A-4147-A177-3AD203B41FA5}">
                      <a16:colId xmlns:a16="http://schemas.microsoft.com/office/drawing/2014/main" val="1723506250"/>
                    </a:ext>
                  </a:extLst>
                </a:gridCol>
                <a:gridCol w="1039660">
                  <a:extLst>
                    <a:ext uri="{9D8B030D-6E8A-4147-A177-3AD203B41FA5}">
                      <a16:colId xmlns:a16="http://schemas.microsoft.com/office/drawing/2014/main" val="1705486906"/>
                    </a:ext>
                  </a:extLst>
                </a:gridCol>
                <a:gridCol w="858033">
                  <a:extLst>
                    <a:ext uri="{9D8B030D-6E8A-4147-A177-3AD203B41FA5}">
                      <a16:colId xmlns:a16="http://schemas.microsoft.com/office/drawing/2014/main" val="1762773808"/>
                    </a:ext>
                  </a:extLst>
                </a:gridCol>
                <a:gridCol w="1045924">
                  <a:extLst>
                    <a:ext uri="{9D8B030D-6E8A-4147-A177-3AD203B41FA5}">
                      <a16:colId xmlns:a16="http://schemas.microsoft.com/office/drawing/2014/main" val="569086730"/>
                    </a:ext>
                  </a:extLst>
                </a:gridCol>
                <a:gridCol w="851769">
                  <a:extLst>
                    <a:ext uri="{9D8B030D-6E8A-4147-A177-3AD203B41FA5}">
                      <a16:colId xmlns:a16="http://schemas.microsoft.com/office/drawing/2014/main" val="2462422321"/>
                    </a:ext>
                  </a:extLst>
                </a:gridCol>
                <a:gridCol w="720247">
                  <a:extLst>
                    <a:ext uri="{9D8B030D-6E8A-4147-A177-3AD203B41FA5}">
                      <a16:colId xmlns:a16="http://schemas.microsoft.com/office/drawing/2014/main" val="2330978052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2771633718"/>
                    </a:ext>
                  </a:extLst>
                </a:gridCol>
                <a:gridCol w="837155">
                  <a:extLst>
                    <a:ext uri="{9D8B030D-6E8A-4147-A177-3AD203B41FA5}">
                      <a16:colId xmlns:a16="http://schemas.microsoft.com/office/drawing/2014/main" val="718906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7540574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8290751"/>
                    </a:ext>
                  </a:extLst>
                </a:gridCol>
              </a:tblGrid>
              <a:tr h="64517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 1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dirty="0"/>
                        <a:t>Condition2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Condition3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Condition4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8933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Sample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231374"/>
                  </a:ext>
                </a:extLst>
              </a:tr>
              <a:tr h="70826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In 3d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451.5;</a:t>
                      </a:r>
                    </a:p>
                    <a:p>
                      <a:r>
                        <a:rPr lang="en-US" altLang="zh-CN" sz="1600" dirty="0"/>
                        <a:t>444.0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451.3;</a:t>
                      </a:r>
                    </a:p>
                    <a:p>
                      <a:r>
                        <a:rPr lang="en-US" altLang="zh-CN" sz="1600" dirty="0"/>
                        <a:t>443.8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451.4;</a:t>
                      </a:r>
                    </a:p>
                    <a:p>
                      <a:r>
                        <a:rPr lang="en-US" altLang="zh-CN" sz="1600" dirty="0"/>
                        <a:t>443.8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451.4;</a:t>
                      </a:r>
                    </a:p>
                    <a:p>
                      <a:r>
                        <a:rPr lang="en-US" altLang="zh-CN" sz="1600" dirty="0"/>
                        <a:t>443.9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451.5;</a:t>
                      </a:r>
                    </a:p>
                    <a:p>
                      <a:r>
                        <a:rPr lang="en-US" altLang="zh-CN" sz="1600" dirty="0"/>
                        <a:t>444.0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451.5;</a:t>
                      </a:r>
                    </a:p>
                    <a:p>
                      <a:r>
                        <a:rPr lang="en-US" altLang="zh-CN" sz="1600" dirty="0"/>
                        <a:t>444.0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451.6;</a:t>
                      </a:r>
                    </a:p>
                    <a:p>
                      <a:r>
                        <a:rPr lang="en-US" altLang="zh-CN" sz="1600" dirty="0"/>
                        <a:t>444.1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451.4;</a:t>
                      </a:r>
                    </a:p>
                    <a:p>
                      <a:r>
                        <a:rPr lang="en-US" altLang="zh-CN" sz="1600" dirty="0"/>
                        <a:t>443.9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451.5;</a:t>
                      </a:r>
                    </a:p>
                    <a:p>
                      <a:r>
                        <a:rPr lang="en-US" altLang="zh-CN" sz="1600" dirty="0"/>
                        <a:t>444.0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451.5;</a:t>
                      </a:r>
                    </a:p>
                    <a:p>
                      <a:r>
                        <a:rPr lang="en-US" altLang="zh-CN" sz="1600" dirty="0"/>
                        <a:t>444.0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893018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Ta 4f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227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 1s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528.4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528.4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6076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Area of In 3d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26247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28819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28042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27761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29500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32154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29472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32287```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29477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28743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29933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02696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Area of Ta 4f</a:t>
                      </a:r>
                      <a:endParaRPr lang="zh-CN" altLang="en-US" sz="1600" dirty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Too weak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6646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Area of O 1s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3497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3669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3617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3286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3561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3641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3751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3884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3374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3621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3609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1167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4BAE994-54DA-9444-28E5-87E05024A955}"/>
              </a:ext>
            </a:extLst>
          </p:cNvPr>
          <p:cNvSpPr txBox="1"/>
          <p:nvPr/>
        </p:nvSpPr>
        <p:spPr>
          <a:xfrm>
            <a:off x="463463" y="179741"/>
            <a:ext cx="23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XPS data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4179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8B8E-46FA-8955-062B-E63DB0FA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1C1A75-3302-F655-A225-42C115C8B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196685"/>
              </p:ext>
            </p:extLst>
          </p:nvPr>
        </p:nvGraphicFramePr>
        <p:xfrm>
          <a:off x="0" y="883174"/>
          <a:ext cx="11887200" cy="533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778">
                  <a:extLst>
                    <a:ext uri="{9D8B030D-6E8A-4147-A177-3AD203B41FA5}">
                      <a16:colId xmlns:a16="http://schemas.microsoft.com/office/drawing/2014/main" val="1668178562"/>
                    </a:ext>
                  </a:extLst>
                </a:gridCol>
                <a:gridCol w="800269">
                  <a:extLst>
                    <a:ext uri="{9D8B030D-6E8A-4147-A177-3AD203B41FA5}">
                      <a16:colId xmlns:a16="http://schemas.microsoft.com/office/drawing/2014/main" val="3422068644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1723506250"/>
                    </a:ext>
                  </a:extLst>
                </a:gridCol>
                <a:gridCol w="969668">
                  <a:extLst>
                    <a:ext uri="{9D8B030D-6E8A-4147-A177-3AD203B41FA5}">
                      <a16:colId xmlns:a16="http://schemas.microsoft.com/office/drawing/2014/main" val="1705486906"/>
                    </a:ext>
                  </a:extLst>
                </a:gridCol>
                <a:gridCol w="800269">
                  <a:extLst>
                    <a:ext uri="{9D8B030D-6E8A-4147-A177-3AD203B41FA5}">
                      <a16:colId xmlns:a16="http://schemas.microsoft.com/office/drawing/2014/main" val="1762773808"/>
                    </a:ext>
                  </a:extLst>
                </a:gridCol>
                <a:gridCol w="800269">
                  <a:extLst>
                    <a:ext uri="{9D8B030D-6E8A-4147-A177-3AD203B41FA5}">
                      <a16:colId xmlns:a16="http://schemas.microsoft.com/office/drawing/2014/main" val="1333217606"/>
                    </a:ext>
                  </a:extLst>
                </a:gridCol>
                <a:gridCol w="840960">
                  <a:extLst>
                    <a:ext uri="{9D8B030D-6E8A-4147-A177-3AD203B41FA5}">
                      <a16:colId xmlns:a16="http://schemas.microsoft.com/office/drawing/2014/main" val="569086730"/>
                    </a:ext>
                  </a:extLst>
                </a:gridCol>
                <a:gridCol w="770351">
                  <a:extLst>
                    <a:ext uri="{9D8B030D-6E8A-4147-A177-3AD203B41FA5}">
                      <a16:colId xmlns:a16="http://schemas.microsoft.com/office/drawing/2014/main" val="2462422321"/>
                    </a:ext>
                  </a:extLst>
                </a:gridCol>
                <a:gridCol w="830384">
                  <a:extLst>
                    <a:ext uri="{9D8B030D-6E8A-4147-A177-3AD203B41FA5}">
                      <a16:colId xmlns:a16="http://schemas.microsoft.com/office/drawing/2014/main" val="2330978052"/>
                    </a:ext>
                  </a:extLst>
                </a:gridCol>
                <a:gridCol w="806110">
                  <a:extLst>
                    <a:ext uri="{9D8B030D-6E8A-4147-A177-3AD203B41FA5}">
                      <a16:colId xmlns:a16="http://schemas.microsoft.com/office/drawing/2014/main" val="2771633718"/>
                    </a:ext>
                  </a:extLst>
                </a:gridCol>
                <a:gridCol w="780796">
                  <a:extLst>
                    <a:ext uri="{9D8B030D-6E8A-4147-A177-3AD203B41FA5}">
                      <a16:colId xmlns:a16="http://schemas.microsoft.com/office/drawing/2014/main" val="71890600"/>
                    </a:ext>
                  </a:extLst>
                </a:gridCol>
                <a:gridCol w="923911">
                  <a:extLst>
                    <a:ext uri="{9D8B030D-6E8A-4147-A177-3AD203B41FA5}">
                      <a16:colId xmlns:a16="http://schemas.microsoft.com/office/drawing/2014/main" val="2075405745"/>
                    </a:ext>
                  </a:extLst>
                </a:gridCol>
                <a:gridCol w="923911">
                  <a:extLst>
                    <a:ext uri="{9D8B030D-6E8A-4147-A177-3AD203B41FA5}">
                      <a16:colId xmlns:a16="http://schemas.microsoft.com/office/drawing/2014/main" val="208290751"/>
                    </a:ext>
                  </a:extLst>
                </a:gridCol>
              </a:tblGrid>
              <a:tr h="64517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 5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Condition6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Condition7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/>
                        <a:t>Condition4</a:t>
                      </a:r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8933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Sample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231374"/>
                  </a:ext>
                </a:extLst>
              </a:tr>
              <a:tr h="70826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In 3d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451.9;</a:t>
                      </a:r>
                    </a:p>
                    <a:p>
                      <a:r>
                        <a:rPr lang="en-US" altLang="zh-CN" sz="1600" dirty="0"/>
                        <a:t>444.4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452.0;</a:t>
                      </a:r>
                    </a:p>
                    <a:p>
                      <a:r>
                        <a:rPr lang="en-US" altLang="zh-CN" sz="1600" dirty="0"/>
                        <a:t>444.5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444.1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451.8;</a:t>
                      </a:r>
                    </a:p>
                    <a:p>
                      <a:r>
                        <a:rPr lang="en-US" altLang="zh-CN" sz="1600" dirty="0"/>
                        <a:t>444.3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452.0;</a:t>
                      </a:r>
                    </a:p>
                    <a:p>
                      <a:r>
                        <a:rPr lang="en-US" altLang="zh-CN" sz="1600" dirty="0"/>
                        <a:t>444.4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444.6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452.2;</a:t>
                      </a:r>
                    </a:p>
                    <a:p>
                      <a:r>
                        <a:rPr lang="en-US" altLang="zh-CN" sz="1600" dirty="0"/>
                        <a:t>444.1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452.0;</a:t>
                      </a:r>
                    </a:p>
                    <a:p>
                      <a:r>
                        <a:rPr lang="en-US" altLang="zh-CN" sz="1600" dirty="0"/>
                        <a:t>444.4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451.9;</a:t>
                      </a:r>
                    </a:p>
                    <a:p>
                      <a:r>
                        <a:rPr lang="en-US" altLang="zh-CN" sz="1600" dirty="0"/>
                        <a:t>444.3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451.7;</a:t>
                      </a:r>
                    </a:p>
                    <a:p>
                      <a:r>
                        <a:rPr lang="en-US" altLang="zh-CN" sz="1600" dirty="0"/>
                        <a:t>444.2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893018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Ta 4f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27.9;</a:t>
                      </a:r>
                    </a:p>
                    <a:p>
                      <a:r>
                        <a:rPr lang="en-US" altLang="zh-CN" sz="1600" dirty="0"/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27.9;</a:t>
                      </a:r>
                    </a:p>
                    <a:p>
                      <a:r>
                        <a:rPr lang="en-US" altLang="zh-CN" sz="1600" dirty="0"/>
                        <a:t>26.1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28.0;</a:t>
                      </a:r>
                    </a:p>
                    <a:p>
                      <a:r>
                        <a:rPr lang="en-US" altLang="zh-CN" sz="1600" dirty="0"/>
                        <a:t>26.1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27.6;</a:t>
                      </a:r>
                    </a:p>
                    <a:p>
                      <a:r>
                        <a:rPr lang="en-US" altLang="zh-CN" sz="1600" dirty="0"/>
                        <a:t>25.9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27.5;</a:t>
                      </a:r>
                    </a:p>
                    <a:p>
                      <a:r>
                        <a:rPr lang="en-US" altLang="zh-CN" sz="1600" dirty="0"/>
                        <a:t>25.8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27.5;</a:t>
                      </a:r>
                    </a:p>
                    <a:p>
                      <a:r>
                        <a:rPr lang="en-US" altLang="zh-CN" sz="1600" dirty="0"/>
                        <a:t>25.9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27.9;</a:t>
                      </a:r>
                    </a:p>
                    <a:p>
                      <a:r>
                        <a:rPr lang="en-US" altLang="zh-CN" sz="1600" dirty="0"/>
                        <a:t>26.1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27.6;</a:t>
                      </a:r>
                    </a:p>
                    <a:p>
                      <a:r>
                        <a:rPr lang="en-US" altLang="zh-CN" sz="1600" dirty="0"/>
                        <a:t>25.7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28.0;</a:t>
                      </a:r>
                    </a:p>
                    <a:p>
                      <a:r>
                        <a:rPr lang="en-US" altLang="zh-CN" sz="1600" dirty="0"/>
                        <a:t>26.2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27.7;</a:t>
                      </a:r>
                    </a:p>
                    <a:p>
                      <a:r>
                        <a:rPr lang="en-US" altLang="zh-CN" sz="1600" dirty="0"/>
                        <a:t>25.9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27.9;</a:t>
                      </a:r>
                    </a:p>
                    <a:p>
                      <a:r>
                        <a:rPr lang="en-US" altLang="zh-CN" sz="1600" dirty="0"/>
                        <a:t>26.0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28.0;</a:t>
                      </a:r>
                    </a:p>
                    <a:p>
                      <a:r>
                        <a:rPr lang="en-US" altLang="zh-CN" sz="1600" dirty="0"/>
                        <a:t>26.2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227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O 1s peak position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530.0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530.1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530.0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529.7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60762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Area of In 3d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29546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28482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28745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24357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25799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26081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24237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22617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23240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24203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25148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25365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02696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Area of Ta 4f</a:t>
                      </a:r>
                      <a:endParaRPr lang="zh-CN" altLang="en-US" sz="1600" dirty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209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187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138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152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108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148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905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871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764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551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681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665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66464"/>
                  </a:ext>
                </a:extLst>
              </a:tr>
              <a:tr h="645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Area of O 1s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3824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3669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3956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3959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4035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4357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4264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3479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3512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3943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4154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4214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1167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EF762F5-DA5F-B0FD-71B9-D9A34C9DAA5E}"/>
              </a:ext>
            </a:extLst>
          </p:cNvPr>
          <p:cNvSpPr txBox="1"/>
          <p:nvPr/>
        </p:nvSpPr>
        <p:spPr>
          <a:xfrm>
            <a:off x="463463" y="179741"/>
            <a:ext cx="2373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XPS data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0477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4054</TotalTime>
  <Words>701</Words>
  <Application>Microsoft Office PowerPoint</Application>
  <PresentationFormat>Widescreen</PresentationFormat>
  <Paragraphs>368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yiyan yu</dc:creator>
  <cp:lastModifiedBy>yiyan yu</cp:lastModifiedBy>
  <cp:revision>6</cp:revision>
  <dcterms:created xsi:type="dcterms:W3CDTF">2025-10-22T18:28:02Z</dcterms:created>
  <dcterms:modified xsi:type="dcterms:W3CDTF">2025-11-05T19:51:32Z</dcterms:modified>
</cp:coreProperties>
</file>