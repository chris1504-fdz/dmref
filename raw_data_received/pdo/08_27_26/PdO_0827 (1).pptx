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338" r:id="rId2"/>
    <p:sldId id="3339" r:id="rId3"/>
    <p:sldId id="3341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3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7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C6C51-03EA-4D11-A1A4-6CC3F3F4322C}" type="datetimeFigureOut">
              <a:rPr lang="zh-TW" altLang="en-US" smtClean="0"/>
              <a:t>2026/8/27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A6485-19C1-4798-BF54-387EDAB4B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187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16F4E-C6F6-460C-AD53-F60B54992EC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620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71CE4D-4EC2-29E0-5C71-74BFC7A6D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631B68D-0531-9C99-D476-3C06342FFB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84256E4-5D32-44FA-62B3-7644AB8C4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589D-2F13-48CD-844D-47BE702BDEC8}" type="datetimeFigureOut">
              <a:rPr lang="zh-TW" altLang="en-US" smtClean="0"/>
              <a:t>2026/8/27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BFC64D-CD8E-08F8-673B-5FE97B964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4D751B-EEFE-2BC9-C2E9-07AC5B5AC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1170-A6A9-4A69-B8AC-812F348397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8910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1E9824-79C4-44FF-21A0-07517E2C6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2F7EB0-393B-6435-E664-AC899FF8B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0ADBE5D-CD68-D203-E717-9874B1351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589D-2F13-48CD-844D-47BE702BDEC8}" type="datetimeFigureOut">
              <a:rPr lang="zh-TW" altLang="en-US" smtClean="0"/>
              <a:t>2026/8/27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6C4C5A-F849-5CA6-DE48-592E4398F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4262F8-E1FA-99BE-50B4-6322644DB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1170-A6A9-4A69-B8AC-812F348397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6768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0BF052-6E2F-1BA0-C1CE-C3AA97E9B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7DE0BDE-15C2-EF62-25E7-F99892179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219A7B-640C-78DE-F070-38E3B2CB6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589D-2F13-48CD-844D-47BE702BDEC8}" type="datetimeFigureOut">
              <a:rPr lang="zh-TW" altLang="en-US" smtClean="0"/>
              <a:t>2026/8/27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1DAC51-2E6A-C3F7-B604-062A1B38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3E8950-D3F1-8C62-69A2-727A83A50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1170-A6A9-4A69-B8AC-812F348397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3791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C2C43A-9346-AA85-A417-3C8E80A38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E2EA82-6313-DBEB-EEEC-89A8B59E4B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728CA34-F864-DBF5-852F-8E2FF7C60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18F12A-19FF-050B-6ED1-B3F1A94C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589D-2F13-48CD-844D-47BE702BDEC8}" type="datetimeFigureOut">
              <a:rPr lang="zh-TW" altLang="en-US" smtClean="0"/>
              <a:t>2026/8/27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1DB269A-BA4B-ED76-1341-2C277A199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522E644-97E0-56F7-60C7-0F7167267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1170-A6A9-4A69-B8AC-812F348397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8685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98C551-A219-01AF-0B9F-D00BAA63D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F7968B8-0EE8-FDD8-B229-D7155F3B2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9E3FE46-09EB-12D4-DE6E-E859E4656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1FAFD98-B6B0-5DDE-C8A1-5C16727D82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1B2FCD9-02A1-A92E-D202-2472E87319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338A417-0555-4256-7708-EE521670E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589D-2F13-48CD-844D-47BE702BDEC8}" type="datetimeFigureOut">
              <a:rPr lang="zh-TW" altLang="en-US" smtClean="0"/>
              <a:t>2026/8/27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E11978D-3C3F-0DBB-4458-73EDB097D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FA115C3-6250-2954-0E48-3974830CB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1170-A6A9-4A69-B8AC-812F348397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945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1DC999-6533-79C2-924D-EDB22B9C9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48739CF-E98D-0CDB-A4CB-CA60FDEAA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589D-2F13-48CD-844D-47BE702BDEC8}" type="datetimeFigureOut">
              <a:rPr lang="zh-TW" altLang="en-US" smtClean="0"/>
              <a:t>2026/8/27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D41BE47-FF52-403E-68CD-53B99A3FC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0C365AD-8E7E-4C3F-B948-531CA67F9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1170-A6A9-4A69-B8AC-812F348397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6959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BCB9279-990E-E1D9-9994-C732440A3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589D-2F13-48CD-844D-47BE702BDEC8}" type="datetimeFigureOut">
              <a:rPr lang="zh-TW" altLang="en-US" smtClean="0"/>
              <a:t>2026/8/27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E7A98E9-637D-2BA4-44F8-CF06AC6FB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59F7F2-0AB7-D9D6-C0FA-880ECB1AD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1170-A6A9-4A69-B8AC-812F348397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768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3CB108-1365-2FE1-FC8B-5AA6CEDA1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16BC5C-1D89-FD61-D798-9FF62C46B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20B81E8-C8CD-75BD-7BD6-9867A48C2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042A507-4692-42B3-AB3D-B829707A1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589D-2F13-48CD-844D-47BE702BDEC8}" type="datetimeFigureOut">
              <a:rPr lang="zh-TW" altLang="en-US" smtClean="0"/>
              <a:t>2026/8/27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7C1FE19-95AA-6466-ACF3-44A6E44C2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5685C47-42CE-814C-83EB-2323E4FE1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1170-A6A9-4A69-B8AC-812F348397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9436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F38FEC-9B47-338E-7947-33CD266DE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431012D-5297-9CA0-9411-5248EE03DD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B36A63C-3442-2816-DB57-4F26E34BF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D7E8D3C-738E-7BFF-326C-504ED7074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589D-2F13-48CD-844D-47BE702BDEC8}" type="datetimeFigureOut">
              <a:rPr lang="zh-TW" altLang="en-US" smtClean="0"/>
              <a:t>2026/8/27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3CAA287-A3ED-DD61-D0A5-0B7339EC6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BBA3852-8F35-7D9B-F407-78F818C0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1170-A6A9-4A69-B8AC-812F348397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7153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42564F-D229-F728-AA84-26449A30F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BD2F213-53D3-DD2D-DC94-EFB78600C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157FB36-A86D-7346-8D1C-1D498A767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589D-2F13-48CD-844D-47BE702BDEC8}" type="datetimeFigureOut">
              <a:rPr lang="zh-TW" altLang="en-US" smtClean="0"/>
              <a:t>2026/8/27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AB9872-1EA5-FAE6-BCFA-3D6302845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BDB6A3-324C-3DB6-8283-5699F26A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1170-A6A9-4A69-B8AC-812F348397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033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40BEA92-87CE-CEB7-BD12-2CB470A043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FE07F70-29F4-2EBB-C07F-BF209F1C7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45FD4D-65F6-0F32-7601-8274BCC9F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589D-2F13-48CD-844D-47BE702BDEC8}" type="datetimeFigureOut">
              <a:rPr lang="zh-TW" altLang="en-US" smtClean="0"/>
              <a:t>2026/8/27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DDFF68-9D17-DBDA-4461-C6E719F9A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0DCFCB7-F66D-E3F5-4C64-8C6C545B2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1170-A6A9-4A69-B8AC-812F348397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2607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9;p3">
            <a:extLst>
              <a:ext uri="{FF2B5EF4-FFF2-40B4-BE49-F238E27FC236}">
                <a16:creationId xmlns:a16="http://schemas.microsoft.com/office/drawing/2014/main" id="{C810E580-0214-B499-1A7B-692214DAC3B5}"/>
              </a:ext>
            </a:extLst>
          </p:cNvPr>
          <p:cNvSpPr txBox="1">
            <a:spLocks/>
          </p:cNvSpPr>
          <p:nvPr userDrawn="1"/>
        </p:nvSpPr>
        <p:spPr>
          <a:xfrm>
            <a:off x="11296611" y="142125"/>
            <a:ext cx="731600" cy="524314"/>
          </a:xfrm>
          <a:prstGeom prst="rect">
            <a:avLst/>
          </a:prstGeom>
        </p:spPr>
        <p:txBody>
          <a:bodyPr spcFirstLastPara="1" vert="horz" wrap="square" lIns="121787" tIns="121787" rIns="121787" bIns="121787" rtlCol="0" anchor="ctr" anchorCtr="0">
            <a:normAutofit/>
          </a:bodyPr>
          <a:lstStyle>
            <a:defPPr>
              <a:defRPr lang="en-US"/>
            </a:defPPr>
            <a:lvl1pPr marL="0" lvl="0" algn="r" defTabSz="457200" rtl="0" eaLnBrk="1" latinLnBrk="0" hangingPunct="1">
              <a:buNone/>
              <a:defRPr sz="9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000000-1234-1234-1234-123412341234}" type="slidenum">
              <a:rPr lang="en" sz="1332" smtClean="0">
                <a:solidFill>
                  <a:schemeClr val="accent4"/>
                </a:solidFill>
              </a:rPr>
              <a:pPr/>
              <a:t>‹#›</a:t>
            </a:fld>
            <a:endParaRPr lang="en" sz="1332" dirty="0">
              <a:solidFill>
                <a:schemeClr val="accent4"/>
              </a:solidFill>
            </a:endParaRPr>
          </a:p>
        </p:txBody>
      </p:sp>
      <p:sp>
        <p:nvSpPr>
          <p:cNvPr id="7" name="Google Shape;20;p3">
            <a:extLst>
              <a:ext uri="{FF2B5EF4-FFF2-40B4-BE49-F238E27FC236}">
                <a16:creationId xmlns:a16="http://schemas.microsoft.com/office/drawing/2014/main" id="{E17E7E9F-41BA-A475-58BE-A6B41BA0F53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15600" y="206826"/>
            <a:ext cx="5024400" cy="5243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599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1066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1066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1066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1066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1066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1066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1066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1066"/>
            </a:lvl9pPr>
          </a:lstStyle>
          <a:p>
            <a:endParaRPr dirty="0"/>
          </a:p>
        </p:txBody>
      </p:sp>
      <p:sp>
        <p:nvSpPr>
          <p:cNvPr id="8" name="Google Shape;47;p7">
            <a:extLst>
              <a:ext uri="{FF2B5EF4-FFF2-40B4-BE49-F238E27FC236}">
                <a16:creationId xmlns:a16="http://schemas.microsoft.com/office/drawing/2014/main" id="{83A6712A-1F22-399B-171E-7C9F9EAA29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0067" y="1564052"/>
            <a:ext cx="5024400" cy="31874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None/>
              <a:defRPr sz="6128"/>
            </a:lvl1pPr>
            <a:lvl2pPr lvl="1" rtl="0">
              <a:spcBef>
                <a:spcPts val="0"/>
              </a:spcBef>
              <a:spcAft>
                <a:spcPts val="0"/>
              </a:spcAft>
              <a:buSzPts val="4600"/>
              <a:buNone/>
              <a:defRPr sz="6128"/>
            </a:lvl2pPr>
            <a:lvl3pPr lvl="2" rtl="0">
              <a:spcBef>
                <a:spcPts val="0"/>
              </a:spcBef>
              <a:spcAft>
                <a:spcPts val="0"/>
              </a:spcAft>
              <a:buSzPts val="4600"/>
              <a:buNone/>
              <a:defRPr sz="6128"/>
            </a:lvl3pPr>
            <a:lvl4pPr lvl="3" rtl="0">
              <a:spcBef>
                <a:spcPts val="0"/>
              </a:spcBef>
              <a:spcAft>
                <a:spcPts val="0"/>
              </a:spcAft>
              <a:buSzPts val="4600"/>
              <a:buNone/>
              <a:defRPr sz="6128"/>
            </a:lvl4pPr>
            <a:lvl5pPr lvl="4" rtl="0">
              <a:spcBef>
                <a:spcPts val="0"/>
              </a:spcBef>
              <a:spcAft>
                <a:spcPts val="0"/>
              </a:spcAft>
              <a:buSzPts val="4600"/>
              <a:buNone/>
              <a:defRPr sz="6128"/>
            </a:lvl5pPr>
            <a:lvl6pPr lvl="5" rtl="0">
              <a:spcBef>
                <a:spcPts val="0"/>
              </a:spcBef>
              <a:spcAft>
                <a:spcPts val="0"/>
              </a:spcAft>
              <a:buSzPts val="4600"/>
              <a:buNone/>
              <a:defRPr sz="6128"/>
            </a:lvl6pPr>
            <a:lvl7pPr lvl="6" rtl="0">
              <a:spcBef>
                <a:spcPts val="0"/>
              </a:spcBef>
              <a:spcAft>
                <a:spcPts val="0"/>
              </a:spcAft>
              <a:buSzPts val="4600"/>
              <a:buNone/>
              <a:defRPr sz="6128"/>
            </a:lvl7pPr>
            <a:lvl8pPr lvl="7" rtl="0">
              <a:spcBef>
                <a:spcPts val="0"/>
              </a:spcBef>
              <a:spcAft>
                <a:spcPts val="0"/>
              </a:spcAft>
              <a:buSzPts val="4600"/>
              <a:buNone/>
              <a:defRPr sz="6128"/>
            </a:lvl8pPr>
            <a:lvl9pPr lvl="8" rtl="0">
              <a:spcBef>
                <a:spcPts val="0"/>
              </a:spcBef>
              <a:spcAft>
                <a:spcPts val="0"/>
              </a:spcAft>
              <a:buSzPts val="4600"/>
              <a:buNone/>
              <a:defRPr sz="6128"/>
            </a:lvl9pPr>
          </a:lstStyle>
          <a:p>
            <a:endParaRPr dirty="0"/>
          </a:p>
        </p:txBody>
      </p:sp>
      <p:sp>
        <p:nvSpPr>
          <p:cNvPr id="9" name="Google Shape;48;p7">
            <a:extLst>
              <a:ext uri="{FF2B5EF4-FFF2-40B4-BE49-F238E27FC236}">
                <a16:creationId xmlns:a16="http://schemas.microsoft.com/office/drawing/2014/main" id="{49FD2391-EFD0-6827-0E38-58DE2B3470A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392467" y="4668777"/>
            <a:ext cx="3047600" cy="22758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036" lvl="0" indent="-43985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2131">
                <a:solidFill>
                  <a:schemeClr val="dk1"/>
                </a:solidFill>
              </a:defRPr>
            </a:lvl1pPr>
            <a:lvl2pPr marL="1218072" lvl="1" indent="-40602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599">
                <a:solidFill>
                  <a:schemeClr val="dk1"/>
                </a:solidFill>
              </a:defRPr>
            </a:lvl2pPr>
            <a:lvl3pPr marL="1827108" lvl="2" indent="-40602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599">
                <a:solidFill>
                  <a:schemeClr val="dk1"/>
                </a:solidFill>
              </a:defRPr>
            </a:lvl3pPr>
            <a:lvl4pPr marL="2436144" lvl="3" indent="-40602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599">
                <a:solidFill>
                  <a:schemeClr val="dk1"/>
                </a:solidFill>
              </a:defRPr>
            </a:lvl4pPr>
            <a:lvl5pPr marL="3045181" lvl="4" indent="-40602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599">
                <a:solidFill>
                  <a:schemeClr val="dk1"/>
                </a:solidFill>
              </a:defRPr>
            </a:lvl5pPr>
            <a:lvl6pPr marL="3654217" lvl="5" indent="-40602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599">
                <a:solidFill>
                  <a:schemeClr val="dk1"/>
                </a:solidFill>
              </a:defRPr>
            </a:lvl6pPr>
            <a:lvl7pPr marL="4263253" lvl="6" indent="-40602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599">
                <a:solidFill>
                  <a:schemeClr val="dk1"/>
                </a:solidFill>
              </a:defRPr>
            </a:lvl7pPr>
            <a:lvl8pPr marL="4872289" lvl="7" indent="-40602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599">
                <a:solidFill>
                  <a:schemeClr val="dk1"/>
                </a:solidFill>
              </a:defRPr>
            </a:lvl8pPr>
            <a:lvl9pPr marL="5481325" lvl="8" indent="-40602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599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49;p7">
            <a:extLst>
              <a:ext uri="{FF2B5EF4-FFF2-40B4-BE49-F238E27FC236}">
                <a16:creationId xmlns:a16="http://schemas.microsoft.com/office/drawing/2014/main" id="{604DFBEE-0D85-E431-5206-7CDE28784DF1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209833" y="1911996"/>
            <a:ext cx="5982000" cy="383045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7810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7A45FE9-3E41-0F0E-C021-8E77BB9A4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B408FDB-155B-1710-55AA-8E0378564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F065D1-BD0E-AEAE-A4B0-9EA5C8DC0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60589D-2F13-48CD-844D-47BE702BDEC8}" type="datetimeFigureOut">
              <a:rPr lang="zh-TW" altLang="en-US" smtClean="0"/>
              <a:t>2026/8/27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12C2E1-C792-8A54-59B0-7C9E25D8BD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2205A1-C6AC-2C08-AEAE-5938C265D2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21170-A6A9-4A69-B8AC-812F348397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9142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5.emf"/><Relationship Id="rId7" Type="http://schemas.openxmlformats.org/officeDocument/2006/relationships/image" Target="../media/image7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8A864-938F-90EA-66CC-2A9341B3F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7C1D5AE-A08B-7C38-A55C-128E7B6F68AF}"/>
              </a:ext>
            </a:extLst>
          </p:cNvPr>
          <p:cNvSpPr txBox="1"/>
          <p:nvPr/>
        </p:nvSpPr>
        <p:spPr>
          <a:xfrm>
            <a:off x="4859214" y="101699"/>
            <a:ext cx="22772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b="0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SOBOL XRD</a:t>
            </a:r>
            <a:endParaRPr lang="en-US" altLang="zh-TW" sz="2800" b="0" baseline="-25000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D6727A38-62CC-29D4-571E-F92A74B745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014" y="697182"/>
          <a:ext cx="6212010" cy="4336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4158512" imgH="2903812" progId="Origin95.Graph">
                  <p:embed/>
                </p:oleObj>
              </mc:Choice>
              <mc:Fallback>
                <p:oleObj name="Graph" r:id="rId3" imgW="4158512" imgH="2903812" progId="Origin95.Graph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D6727A38-62CC-29D4-571E-F92A74B745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7014" y="697182"/>
                        <a:ext cx="6212010" cy="43365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91169CC2-9A33-F971-EA79-ED22A853424D}"/>
              </a:ext>
            </a:extLst>
          </p:cNvPr>
          <p:cNvSpPr txBox="1"/>
          <p:nvPr/>
        </p:nvSpPr>
        <p:spPr>
          <a:xfrm>
            <a:off x="834031" y="4815600"/>
            <a:ext cx="103275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XRD tested on 42 samples on sapphire with measurable Hall mobility.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Deposition temperature and thickness is critical for crystallinity.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Sample deposited at 25℃ remain amorphous when thickness ≤ 12nm.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Sample deposited at 425℃ remain amorphous when thickness ≤ 4nm.</a:t>
            </a:r>
          </a:p>
        </p:txBody>
      </p:sp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D5825712-57FE-A716-4F77-5AF439EF2B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5732889"/>
              </p:ext>
            </p:extLst>
          </p:nvPr>
        </p:nvGraphicFramePr>
        <p:xfrm>
          <a:off x="5731364" y="653555"/>
          <a:ext cx="6212010" cy="4336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4158512" imgH="2903812" progId="Origin95.Graph">
                  <p:embed/>
                </p:oleObj>
              </mc:Choice>
              <mc:Fallback>
                <p:oleObj name="Graph" r:id="rId5" imgW="4158512" imgH="2903812" progId="Origin95.Graph">
                  <p:embed/>
                  <p:pic>
                    <p:nvPicPr>
                      <p:cNvPr id="9" name="物件 8">
                        <a:extLst>
                          <a:ext uri="{FF2B5EF4-FFF2-40B4-BE49-F238E27FC236}">
                            <a16:creationId xmlns:a16="http://schemas.microsoft.com/office/drawing/2014/main" id="{D5825712-57FE-A716-4F77-5AF439EF2B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31364" y="653555"/>
                        <a:ext cx="6212010" cy="43365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3798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61CE4-A17F-F6DF-2D2E-DFA137AD3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3C76046-4258-E5AC-0724-2CDD47616E27}"/>
              </a:ext>
            </a:extLst>
          </p:cNvPr>
          <p:cNvSpPr txBox="1"/>
          <p:nvPr/>
        </p:nvSpPr>
        <p:spPr>
          <a:xfrm>
            <a:off x="4859214" y="101699"/>
            <a:ext cx="22772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b="0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SOBOL XRD</a:t>
            </a:r>
            <a:endParaRPr lang="en-US" altLang="zh-TW" sz="2800" b="0" baseline="-25000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65009B72-2A6D-5913-6054-3FF3BE020E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414" y="480305"/>
          <a:ext cx="6212010" cy="4336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158512" imgH="2903812" progId="Origin95.Graph">
                  <p:embed/>
                </p:oleObj>
              </mc:Choice>
              <mc:Fallback>
                <p:oleObj name="Graph" r:id="rId2" imgW="4158512" imgH="2903812" progId="Origin95.Graph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65009B72-2A6D-5913-6054-3FF3BE020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0414" y="480305"/>
                        <a:ext cx="6212010" cy="43365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DB1084B2-1B83-3801-7FE9-05ABF1763316}"/>
              </a:ext>
            </a:extLst>
          </p:cNvPr>
          <p:cNvSpPr txBox="1"/>
          <p:nvPr/>
        </p:nvSpPr>
        <p:spPr>
          <a:xfrm>
            <a:off x="834029" y="5555972"/>
            <a:ext cx="103275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#15 shows low crystallinity, average Hall mobility of 8.84cm</a:t>
            </a:r>
            <a:r>
              <a:rPr lang="en-US" altLang="zh-TW" sz="2400" baseline="30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/V-s, and average carrier concentration of 3.20·10</a:t>
            </a:r>
            <a:r>
              <a:rPr lang="en-US" altLang="zh-TW" sz="2400" baseline="30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19</a:t>
            </a: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/cm</a:t>
            </a:r>
            <a:r>
              <a:rPr lang="en-US" altLang="zh-TW" sz="2400" baseline="30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3</a:t>
            </a: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Crystallinity can be further reduced by adjusting thickness.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2796591-2E04-D3C4-3E94-E86E06D70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033740"/>
              </p:ext>
            </p:extLst>
          </p:nvPr>
        </p:nvGraphicFramePr>
        <p:xfrm>
          <a:off x="8036170" y="1810723"/>
          <a:ext cx="2315307" cy="18046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4812">
                  <a:extLst>
                    <a:ext uri="{9D8B030D-6E8A-4147-A177-3AD203B41FA5}">
                      <a16:colId xmlns:a16="http://schemas.microsoft.com/office/drawing/2014/main" val="3893687268"/>
                    </a:ext>
                  </a:extLst>
                </a:gridCol>
                <a:gridCol w="941958">
                  <a:extLst>
                    <a:ext uri="{9D8B030D-6E8A-4147-A177-3AD203B41FA5}">
                      <a16:colId xmlns:a16="http://schemas.microsoft.com/office/drawing/2014/main" val="1134561525"/>
                    </a:ext>
                  </a:extLst>
                </a:gridCol>
                <a:gridCol w="908537">
                  <a:extLst>
                    <a:ext uri="{9D8B030D-6E8A-4147-A177-3AD203B41FA5}">
                      <a16:colId xmlns:a16="http://schemas.microsoft.com/office/drawing/2014/main" val="1241109004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TW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Hall mobility (cm^2/V-s)</a:t>
                      </a:r>
                      <a:endParaRPr 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zh-TW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Carrier concentration (#/cm^3)</a:t>
                      </a:r>
                      <a:endParaRPr 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2569124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#14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9.91 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1.74E+19</a:t>
                      </a: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94354699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&lt;Contact Fail&gt;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&lt;Contact Fail&gt;</a:t>
                      </a: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34682225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6.28 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1.53E+19</a:t>
                      </a: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20889766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#15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8.68 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3.16E+19</a:t>
                      </a: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43198145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8.91 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3.17E+19</a:t>
                      </a: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366714194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8.94 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3.26E+19</a:t>
                      </a: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1013189710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668D7FC-0240-F9F6-9D7E-1AB5E17A6D4E}"/>
              </a:ext>
            </a:extLst>
          </p:cNvPr>
          <p:cNvGraphicFramePr>
            <a:graphicFrameLocks noGrp="1"/>
          </p:cNvGraphicFramePr>
          <p:nvPr/>
        </p:nvGraphicFramePr>
        <p:xfrm>
          <a:off x="1628161" y="4572719"/>
          <a:ext cx="8739313" cy="10135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483">
                  <a:extLst>
                    <a:ext uri="{9D8B030D-6E8A-4147-A177-3AD203B41FA5}">
                      <a16:colId xmlns:a16="http://schemas.microsoft.com/office/drawing/2014/main" val="2171667022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2467257713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234903340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2729422723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1736631081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1649173186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236447791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953895760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1175814389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4155636953"/>
                    </a:ext>
                  </a:extLst>
                </a:gridCol>
                <a:gridCol w="794483">
                  <a:extLst>
                    <a:ext uri="{9D8B030D-6E8A-4147-A177-3AD203B41FA5}">
                      <a16:colId xmlns:a16="http://schemas.microsoft.com/office/drawing/2014/main" val="173171230"/>
                    </a:ext>
                  </a:extLst>
                </a:gridCol>
              </a:tblGrid>
              <a:tr h="50163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 Power (W)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O2 Flow (</a:t>
                      </a:r>
                      <a:r>
                        <a:rPr lang="en-US" sz="11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sccm</a:t>
                      </a: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 Press (</a:t>
                      </a:r>
                      <a:r>
                        <a:rPr lang="en-US" sz="11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mTorr</a:t>
                      </a: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 Temp (°C)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Ox Temp (°C)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Ox Press (atm)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Ox Time (min)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Vac Ann Temp (°C)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Vac Ann Time (min)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 Thickness (nm)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3058553"/>
                  </a:ext>
                </a:extLst>
              </a:tr>
              <a:tr h="1744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36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13.4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6.3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425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694.7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1.1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217.4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29.1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7.8</a:t>
                      </a: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2462752476"/>
                  </a:ext>
                </a:extLst>
              </a:tr>
              <a:tr h="32982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4.5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649.3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62.7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362.2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46.5</a:t>
                      </a:r>
                    </a:p>
                  </a:txBody>
                  <a:tcPr marL="2501" marR="2501" marT="250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6.2</a:t>
                      </a:r>
                    </a:p>
                  </a:txBody>
                  <a:tcPr marL="2501" marR="2501" marT="2501" marB="0" anchor="b"/>
                </a:tc>
                <a:extLst>
                  <a:ext uri="{0D108BD9-81ED-4DB2-BD59-A6C34878D82A}">
                    <a16:rowId xmlns:a16="http://schemas.microsoft.com/office/drawing/2014/main" val="2541614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015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F8DBC-F01F-28B7-B7AC-4C2A93FE4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0DB064C-2FDA-27EE-454F-447009E63BDD}"/>
              </a:ext>
            </a:extLst>
          </p:cNvPr>
          <p:cNvSpPr txBox="1"/>
          <p:nvPr/>
        </p:nvSpPr>
        <p:spPr>
          <a:xfrm>
            <a:off x="4859214" y="101699"/>
            <a:ext cx="22772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b="0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SOBOL XRD</a:t>
            </a:r>
            <a:endParaRPr lang="en-US" altLang="zh-TW" sz="2800" b="0" baseline="-25000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CBD945FA-EBDE-665C-E0A6-756BCD9E79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4583414"/>
              </p:ext>
            </p:extLst>
          </p:nvPr>
        </p:nvGraphicFramePr>
        <p:xfrm>
          <a:off x="-320675" y="639763"/>
          <a:ext cx="6211888" cy="433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158512" imgH="2903812" progId="Origin95.Graph">
                  <p:embed/>
                </p:oleObj>
              </mc:Choice>
              <mc:Fallback>
                <p:oleObj name="Graph" r:id="rId2" imgW="4158512" imgH="2903812" progId="Origin95.Graph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CBD945FA-EBDE-665C-E0A6-756BCD9E7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320675" y="639763"/>
                        <a:ext cx="6211888" cy="433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物件 3">
            <a:extLst>
              <a:ext uri="{FF2B5EF4-FFF2-40B4-BE49-F238E27FC236}">
                <a16:creationId xmlns:a16="http://schemas.microsoft.com/office/drawing/2014/main" id="{E7FDD281-FDE6-4F2F-E348-9203F37BFE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0294332"/>
              </p:ext>
            </p:extLst>
          </p:nvPr>
        </p:nvGraphicFramePr>
        <p:xfrm>
          <a:off x="7034894" y="3102503"/>
          <a:ext cx="3099532" cy="2163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4158512" imgH="2903812" progId="Origin95.Graph">
                  <p:embed/>
                </p:oleObj>
              </mc:Choice>
              <mc:Fallback>
                <p:oleObj name="Graph" r:id="rId4" imgW="4158512" imgH="2903812" progId="Origin95.Graph">
                  <p:embed/>
                  <p:pic>
                    <p:nvPicPr>
                      <p:cNvPr id="4" name="物件 3">
                        <a:extLst>
                          <a:ext uri="{FF2B5EF4-FFF2-40B4-BE49-F238E27FC236}">
                            <a16:creationId xmlns:a16="http://schemas.microsoft.com/office/drawing/2014/main" id="{E7FDD281-FDE6-4F2F-E348-9203F37BFE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34894" y="3102503"/>
                        <a:ext cx="3099532" cy="21637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物件 10">
            <a:extLst>
              <a:ext uri="{FF2B5EF4-FFF2-40B4-BE49-F238E27FC236}">
                <a16:creationId xmlns:a16="http://schemas.microsoft.com/office/drawing/2014/main" id="{2CC3552E-758D-1DDE-83D0-54F86A7B23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48607" y="639998"/>
          <a:ext cx="3995181" cy="2789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4158512" imgH="2903812" progId="Origin95.Graph">
                  <p:embed/>
                </p:oleObj>
              </mc:Choice>
              <mc:Fallback>
                <p:oleObj name="Graph" r:id="rId6" imgW="4158512" imgH="2903812" progId="Origin95.Graph">
                  <p:embed/>
                  <p:pic>
                    <p:nvPicPr>
                      <p:cNvPr id="11" name="物件 10">
                        <a:extLst>
                          <a:ext uri="{FF2B5EF4-FFF2-40B4-BE49-F238E27FC236}">
                            <a16:creationId xmlns:a16="http://schemas.microsoft.com/office/drawing/2014/main" id="{2CC3552E-758D-1DDE-83D0-54F86A7B23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48607" y="639998"/>
                        <a:ext cx="3995181" cy="27890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物件 13">
            <a:extLst>
              <a:ext uri="{FF2B5EF4-FFF2-40B4-BE49-F238E27FC236}">
                <a16:creationId xmlns:a16="http://schemas.microsoft.com/office/drawing/2014/main" id="{D57E7B69-642C-DC16-C3AA-8DFD1CC431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4134851"/>
              </p:ext>
            </p:extLst>
          </p:nvPr>
        </p:nvGraphicFramePr>
        <p:xfrm>
          <a:off x="7838524" y="648671"/>
          <a:ext cx="3995181" cy="2789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4158512" imgH="2903812" progId="Origin95.Graph">
                  <p:embed/>
                </p:oleObj>
              </mc:Choice>
              <mc:Fallback>
                <p:oleObj name="Graph" r:id="rId8" imgW="4158512" imgH="2903812" progId="Origin95.Graph">
                  <p:embed/>
                  <p:pic>
                    <p:nvPicPr>
                      <p:cNvPr id="14" name="物件 13">
                        <a:extLst>
                          <a:ext uri="{FF2B5EF4-FFF2-40B4-BE49-F238E27FC236}">
                            <a16:creationId xmlns:a16="http://schemas.microsoft.com/office/drawing/2014/main" id="{D57E7B69-642C-DC16-C3AA-8DFD1CC431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838524" y="648671"/>
                        <a:ext cx="3995181" cy="27890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字方塊 19">
            <a:extLst>
              <a:ext uri="{FF2B5EF4-FFF2-40B4-BE49-F238E27FC236}">
                <a16:creationId xmlns:a16="http://schemas.microsoft.com/office/drawing/2014/main" id="{23B17D4D-75DA-6D8D-4A9A-CF17CD429A87}"/>
              </a:ext>
            </a:extLst>
          </p:cNvPr>
          <p:cNvSpPr txBox="1"/>
          <p:nvPr/>
        </p:nvSpPr>
        <p:spPr>
          <a:xfrm>
            <a:off x="1608346" y="5387005"/>
            <a:ext cx="89753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#15 shows low crystallinity, average Hall mobility of 8.84cm</a:t>
            </a:r>
            <a:r>
              <a:rPr lang="en-US" altLang="zh-TW" sz="2400" baseline="30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/V-s, and average carrier concentration of 3.20·10</a:t>
            </a:r>
            <a:r>
              <a:rPr lang="en-US" altLang="zh-TW" sz="2400" baseline="30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19</a:t>
            </a: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/cm</a:t>
            </a:r>
            <a:r>
              <a:rPr lang="en-US" altLang="zh-TW" sz="2400" baseline="30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3</a:t>
            </a:r>
            <a:r>
              <a:rPr lang="en-US" altLang="zh-TW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945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234</Words>
  <Application>Microsoft Office PowerPoint</Application>
  <PresentationFormat>寬螢幕</PresentationFormat>
  <Paragraphs>60</Paragraphs>
  <Slides>3</Slides>
  <Notes>1</Notes>
  <HiddenSlides>0</HiddenSlides>
  <MMClips>0</MMClips>
  <ScaleCrop>false</ScaleCrop>
  <HeadingPairs>
    <vt:vector size="8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佈景主題</vt:lpstr>
      <vt:lpstr>Graph</vt:lpstr>
      <vt:lpstr>Origin Project or Graph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陳冠華</dc:creator>
  <cp:lastModifiedBy>陳冠華</cp:lastModifiedBy>
  <cp:revision>4</cp:revision>
  <dcterms:created xsi:type="dcterms:W3CDTF">2026-08-27T16:55:57Z</dcterms:created>
  <dcterms:modified xsi:type="dcterms:W3CDTF">2026-08-27T17:37:18Z</dcterms:modified>
</cp:coreProperties>
</file>